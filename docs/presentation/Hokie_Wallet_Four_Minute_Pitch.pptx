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b61fbba29c411e" /><Relationship Type="http://schemas.openxmlformats.org/officeDocument/2006/relationships/extended-properties" Target="/docProps/app.xml" Id="R7d5a520fb756411c" /><Relationship Type="http://schemas.openxmlformats.org/officeDocument/2006/relationships/officeDocument" Target="/ppt/presentation.xml" Id="R0a809588a1834800" /></Relationships>
</file>

<file path=ppt/presentation.xml><?xml version="1.0" encoding="utf-8"?>
<p:presentation xmlns:p="http://schemas.openxmlformats.org/presentationml/2006/main">
  <p:sldMasterIdLst>
    <p:sldMasterId xmlns:r="http://schemas.openxmlformats.org/officeDocument/2006/relationships" id="2147483648" r:id="Rcc6e3608597847e8"/>
  </p:sldMasterIdLst>
  <p:notesMasterIdLst>
    <p:notesMasterId xmlns:r="http://schemas.openxmlformats.org/officeDocument/2006/relationships" r:id="Re48feff0083a4850"/>
  </p:notesMasterIdLst>
  <p:sldIdLst>
    <p:sldId xmlns:r="http://schemas.openxmlformats.org/officeDocument/2006/relationships" id="256" r:id="R3730b178b4f5467c"/>
    <p:sldId xmlns:r="http://schemas.openxmlformats.org/officeDocument/2006/relationships" id="257" r:id="R0e6e529ae15944bc"/>
    <p:sldId xmlns:r="http://schemas.openxmlformats.org/officeDocument/2006/relationships" id="258" r:id="R1e5e3374fcad43e2"/>
    <p:sldId xmlns:r="http://schemas.openxmlformats.org/officeDocument/2006/relationships" id="259" r:id="R12d6392ff9b1473e"/>
    <p:sldId xmlns:r="http://schemas.openxmlformats.org/officeDocument/2006/relationships" id="260" r:id="R9ca5ae7cb97448e6"/>
    <p:sldId xmlns:r="http://schemas.openxmlformats.org/officeDocument/2006/relationships" id="261" r:id="R73834a0081bf4db0"/>
    <p:sldId xmlns:r="http://schemas.openxmlformats.org/officeDocument/2006/relationships" id="262" r:id="Rcbe1ad8c44fc4155"/>
    <p:sldId xmlns:r="http://schemas.openxmlformats.org/officeDocument/2006/relationships" id="263" r:id="R80f4243d472f4243"/>
    <p:sldId xmlns:r="http://schemas.openxmlformats.org/officeDocument/2006/relationships" id="264" r:id="Rbd2aa240cf7f42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bb589de23343e6" /><Relationship Type="http://schemas.openxmlformats.org/officeDocument/2006/relationships/slideMaster" Target="/ppt/slideMasters/slideMaster1.xml" Id="Rcc6e3608597847e8" /><Relationship Type="http://schemas.openxmlformats.org/officeDocument/2006/relationships/notesMaster" Target="/ppt/notesMasters/notesMaster1.xml" Id="Re48feff0083a4850" /><Relationship Type="http://schemas.openxmlformats.org/officeDocument/2006/relationships/presProps" Target="/ppt/presProps.xml" Id="Rc4d3d95eef1548f7" /><Relationship Type="http://schemas.openxmlformats.org/officeDocument/2006/relationships/tableStyles" Target="/ppt/tableStyles.xml" Id="Rfbc596cc43954f44" /><Relationship Type="http://schemas.openxmlformats.org/officeDocument/2006/relationships/slide" Target="/ppt/slides/slide1.xml" Id="R3730b178b4f5467c" /><Relationship Type="http://schemas.openxmlformats.org/officeDocument/2006/relationships/slide" Target="/ppt/slides/slide2.xml" Id="R0e6e529ae15944bc" /><Relationship Type="http://schemas.openxmlformats.org/officeDocument/2006/relationships/slide" Target="/ppt/slides/slide3.xml" Id="R1e5e3374fcad43e2" /><Relationship Type="http://schemas.openxmlformats.org/officeDocument/2006/relationships/slide" Target="/ppt/slides/slide4.xml" Id="R12d6392ff9b1473e" /><Relationship Type="http://schemas.openxmlformats.org/officeDocument/2006/relationships/slide" Target="/ppt/slides/slide5.xml" Id="R9ca5ae7cb97448e6" /><Relationship Type="http://schemas.openxmlformats.org/officeDocument/2006/relationships/slide" Target="/ppt/slides/slide6.xml" Id="R73834a0081bf4db0" /><Relationship Type="http://schemas.openxmlformats.org/officeDocument/2006/relationships/slide" Target="/ppt/slides/slide7.xml" Id="Rcbe1ad8c44fc4155" /><Relationship Type="http://schemas.openxmlformats.org/officeDocument/2006/relationships/slide" Target="/ppt/slides/slide8.xml" Id="R80f4243d472f4243" /><Relationship Type="http://schemas.openxmlformats.org/officeDocument/2006/relationships/slide" Target="/ppt/slides/slide9.xml" Id="Rbd2aa240cf7f42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a8108288b540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2fb5ac7a73491d" /><Relationship Type="http://schemas.openxmlformats.org/officeDocument/2006/relationships/notesMaster" Target="/ppt/notesMasters/notesMaster1.xml" Id="R4bdcecd6d3d44b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ba030fdbdc4ecd" /><Relationship Type="http://schemas.openxmlformats.org/officeDocument/2006/relationships/notesMaster" Target="/ppt/notesMasters/notesMaster1.xml" Id="Rd08a2aad7d0b4b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997dd6eec34655" /><Relationship Type="http://schemas.openxmlformats.org/officeDocument/2006/relationships/notesMaster" Target="/ppt/notesMasters/notesMaster1.xml" Id="R93dc5eb35b7043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fae8e26a224814" /><Relationship Type="http://schemas.openxmlformats.org/officeDocument/2006/relationships/notesMaster" Target="/ppt/notesMasters/notesMaster1.xml" Id="R6c346028920d42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1a12be14d44bc4" /><Relationship Type="http://schemas.openxmlformats.org/officeDocument/2006/relationships/notesMaster" Target="/ppt/notesMasters/notesMaster1.xml" Id="Ra042ce93fc6049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0120ff112c42f6" /><Relationship Type="http://schemas.openxmlformats.org/officeDocument/2006/relationships/notesMaster" Target="/ppt/notesMasters/notesMaster1.xml" Id="R308790c557914c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f06f42648940c0" /><Relationship Type="http://schemas.openxmlformats.org/officeDocument/2006/relationships/notesMaster" Target="/ppt/notesMasters/notesMaster1.xml" Id="R99f87bb09e214f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cc83ae6ba94a60" /><Relationship Type="http://schemas.openxmlformats.org/officeDocument/2006/relationships/notesMaster" Target="/ppt/notesMasters/notesMaster1.xml" Id="R856f85f0fed14e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84c5cad29d4fd2" /><Relationship Type="http://schemas.openxmlformats.org/officeDocument/2006/relationships/notesMaster" Target="/ppt/notesMasters/notesMaster1.xml" Id="R1f1fac65ec2440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Carlos | 0:00–0:15 · 15 seconds</a:t>
            </a:r>
          </a:p>
          <a:p xmlns:a="http://schemas.openxmlformats.org/drawingml/2006/main">
            <a:r>
              <a:t/>
            </a:r>
          </a:p>
          <a:p xmlns:a="http://schemas.openxmlformats.org/drawingml/2006/main">
            <a:r>
              <a:t>Hi, I’m Carlos. Together with Neha, Bilguun, and Grant, we built Hokie Wallet: a student budgeting prototype that helps Hokies plan everyday spending and make their dining money last.</a:t>
            </a:r>
          </a:p>
          <a:p xmlns:a="http://schemas.openxmlformats.org/drawingml/2006/main">
            <a:r>
              <a:t/>
            </a:r>
          </a:p>
          <a:p xmlns:a="http://schemas.openxmlformats.org/drawingml/2006/main">
            <a:r>
              <a:t>Context, not spoken: Student-built hackathon prototype, not the official Virginia Tech account portal.</a:t>
            </a:r>
          </a:p>
          <a:p xmlns:a="http://schemas.openxmlformats.org/drawingml/2006/main">
            <a:r>
              <a:t/>
            </a:r>
          </a:p>
          <a:p xmlns:a="http://schemas.openxmlformats.org/drawingml/2006/main">
            <a:r>
              <a:t>Sources and image credits, not spoken:</a:t>
            </a:r>
          </a:p>
          <a:p xmlns:a="http://schemas.openxmlformats.org/drawingml/2006/main">
            <a:r>
              <a:t>- https://github.com/6bilguun9/vthacks/blob/0c04e56e145e6ab242b62edec231b6f2e33781d5/README.md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Carlos | 0:15–0:35 · 20 seconds</a:t>
            </a:r>
          </a:p>
          <a:p xmlns:a="http://schemas.openxmlformats.org/drawingml/2006/main">
            <a:r>
              <a:t/>
            </a:r>
          </a:p>
          <a:p xmlns:a="http://schemas.openxmlformats.org/drawingml/2006/main">
            <a:r>
              <a:t>Virginia Tech lets us check balances and transaction history, and offers budgeting resources. But a balance still leaves a practical question: what should I spend today? We want to connect dining choices with everyday spending and savings, so students can plan ahead.</a:t>
            </a:r>
          </a:p>
          <a:p xmlns:a="http://schemas.openxmlformats.org/drawingml/2006/main">
            <a:r>
              <a:t/>
            </a:r>
          </a:p>
          <a:p xmlns:a="http://schemas.openxmlformats.org/drawingml/2006/main">
            <a:r>
              <a:t>Context, not spoken: This is the team’s problem framing, not a finding from a student survey. VT already offers a dining dollar use calculator and financial wellness resources.</a:t>
            </a:r>
          </a:p>
          <a:p xmlns:a="http://schemas.openxmlformats.org/drawingml/2006/main">
            <a:r>
              <a:t/>
            </a:r>
          </a:p>
          <a:p xmlns:a="http://schemas.openxmlformats.org/drawingml/2006/main">
            <a:r>
              <a:t>Sources and image credits, not spoken:</a:t>
            </a:r>
          </a:p>
          <a:p xmlns:a="http://schemas.openxmlformats.org/drawingml/2006/main">
            <a:r>
              <a:t>- https://www.hokiepassport.vt.edu/pages/general.php?div2=account</a:t>
            </a:r>
          </a:p>
          <a:p xmlns:a="http://schemas.openxmlformats.org/drawingml/2006/main">
            <a:r>
              <a:t>- https://dining.vt.edu/plans_overview.html</a:t>
            </a:r>
          </a:p>
          <a:p xmlns:a="http://schemas.openxmlformats.org/drawingml/2006/main">
            <a:r>
              <a:t>- https://well-being.vt.edu/finances.html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Carlos | 0:35–1:00 · 25 seconds</a:t>
            </a:r>
          </a:p>
          <a:p xmlns:a="http://schemas.openxmlformats.org/drawingml/2006/main">
            <a:r>
              <a:t/>
            </a:r>
          </a:p>
          <a:p xmlns:a="http://schemas.openxmlformats.org/drawingml/2006/main">
            <a:r>
              <a:t>Neha and I built the frontend around that decision. Overview brings bank cash, restricted campus funds, and monthly spending together. Activity helps explain spending patterns, while Savings shows progress toward a goal. We keep campus funds separate from cash so the numbers do not suggest money you can spend anywhere.</a:t>
            </a:r>
          </a:p>
          <a:p xmlns:a="http://schemas.openxmlformats.org/drawingml/2006/main">
            <a:r>
              <a:t/>
            </a:r>
          </a:p>
          <a:p xmlns:a="http://schemas.openxmlformats.org/drawingml/2006/main">
            <a:r>
              <a:t>Context, not spoken: All financial values in this screenshot are the fixed sample profile. The $700 goal allocation sits within bank cash, not on top of it.</a:t>
            </a:r>
          </a:p>
          <a:p xmlns:a="http://schemas.openxmlformats.org/drawingml/2006/main">
            <a:r>
              <a:t/>
            </a:r>
          </a:p>
          <a:p xmlns:a="http://schemas.openxmlformats.org/drawingml/2006/main">
            <a:r>
              <a:t>Sources and image credits, not spoken:</a:t>
            </a:r>
          </a:p>
          <a:p xmlns:a="http://schemas.openxmlformats.org/drawingml/2006/main">
            <a:r>
              <a:t>- https://github.com/6bilguun9/vthacks/blob/0c04e56e145e6ab242b62edec231b6f2e33781d5/frontend/src/features/dashboard/dashboard.tsx</a:t>
            </a:r>
          </a:p>
          <a:p xmlns:a="http://schemas.openxmlformats.org/drawingml/2006/main">
            <a:r>
              <a:t>- https://github.com/6bilguun9/vthacks/blob/0c04e56e145e6ab242b62edec231b6f2e33781d5/frontend/src/features/dashboard/demo-data.ts</a:t>
            </a:r>
          </a:p>
          <a:p xmlns:a="http://schemas.openxmlformats.org/drawingml/2006/main">
            <a:r>
              <a:t>- Screenshot of team prototype, main commit 0c04e56. HokieBird photo: Virginia Tech, https://www.archive.vtmag.vt.edu/fall18/HokieBirdGallery.php . Origami photo supplied by Neha; source record: https://github.com/6bilguun9/vthacks/blob/0c04e56e145e6ab242b62edec231b6f2e33781d5/frontend/public/campus/README.md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Neha | 1:00–1:35 · 35 seconds</a:t>
            </a:r>
          </a:p>
          <a:p xmlns:a="http://schemas.openxmlformats.org/drawingml/2006/main">
            <a:r>
              <a:t/>
            </a:r>
          </a:p>
          <a:p xmlns:a="http://schemas.openxmlformats.org/drawingml/2006/main">
            <a:r>
              <a:t>I’m Neha. FinBot gives students a familiar place to ask about their money instead of interpreting every number themselves. I worked on the chat experience, including saved conversations, renaming chats, and a multiline message box. A student can return to a question as their plans change. The current demonstration uses scripted replies and sample balances. Bilguun will explain the backend coach and planner that are ready for the next integration step.</a:t>
            </a:r>
          </a:p>
          <a:p xmlns:a="http://schemas.openxmlformats.org/drawingml/2006/main">
            <a:r>
              <a:t/>
            </a:r>
          </a:p>
          <a:p xmlns:a="http://schemas.openxmlformats.org/drawingml/2006/main">
            <a:r>
              <a:t>Context, not spoken: Chat history is stored in this browser. The visible chat UI does not yet call the live coach endpoint. The logo belongs to the team.</a:t>
            </a:r>
          </a:p>
          <a:p xmlns:a="http://schemas.openxmlformats.org/drawingml/2006/main">
            <a:r>
              <a:t/>
            </a:r>
          </a:p>
          <a:p xmlns:a="http://schemas.openxmlformats.org/drawingml/2006/main">
            <a:r>
              <a:t>Sources and image credits, not spoken:</a:t>
            </a:r>
          </a:p>
          <a:p xmlns:a="http://schemas.openxmlformats.org/drawingml/2006/main">
            <a:r>
              <a:t>- https://github.com/6bilguun9/vthacks/blob/0c04e56e145e6ab242b62edec231b6f2e33781d5/frontend/src/features/chat/ChatPanel.tsx</a:t>
            </a:r>
          </a:p>
          <a:p xmlns:a="http://schemas.openxmlformats.org/drawingml/2006/main">
            <a:r>
              <a:t>- https://github.com/6bilguun9/vthacks/blob/0c04e56e145e6ab242b62edec231b6f2e33781d5/frontend/src/features/chat/use-chat-history.ts</a:t>
            </a:r>
          </a:p>
          <a:p xmlns:a="http://schemas.openxmlformats.org/drawingml/2006/main">
            <a:r>
              <a:t>- https://github.com/6bilguun9/vthacks/blob/0c04e56e145e6ab242b62edec231b6f2e33781d5/frontend/src/features/chat/demo-replies.ts</a:t>
            </a:r>
          </a:p>
          <a:p xmlns:a="http://schemas.openxmlformats.org/drawingml/2006/main">
            <a:r>
              <a:t>- Screenshot of team prototype, main commit 0c04e56. HokieBird photo: Virginia Tech, https://www.archive.vtmag.vt.edu/fall18/HokieBirdGallery.php . Origami photo supplied by Neha; source record: https://github.com/6bilguun9/vthacks/blob/0c04e56e145e6ab242b62edec231b6f2e33781d5/frontend/public/campus/README.md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Neha | 1:35–2:00 · 25 seconds</a:t>
            </a:r>
          </a:p>
          <a:p xmlns:a="http://schemas.openxmlformats.org/drawingml/2006/main">
            <a:r>
              <a:t/>
            </a:r>
          </a:p>
          <a:p xmlns:a="http://schemas.openxmlformats.org/drawingml/2006/main">
            <a:r>
              <a:t>We also wanted students to use this comfortably. They can adjust text size, choose clearer color palettes, reduce motion, or listen to the current view. Ten language options translate core interface labels. These controls stay available in dining, so students do not lose their preferences when they switch tasks.</a:t>
            </a:r>
          </a:p>
          <a:p xmlns:a="http://schemas.openxmlformats.org/drawingml/2006/main">
            <a:r>
              <a:t/>
            </a:r>
          </a:p>
          <a:p xmlns:a="http://schemas.openxmlformats.org/drawingml/2006/main">
            <a:r>
              <a:t>Context, not spoken: Text size ranges from 100% to 140%. Translation covers core labels and selected dashboard text, not every detailed demo answer. Read-aloud depends on available browser voices. This is not a claim of full accessibility certification.</a:t>
            </a:r>
          </a:p>
          <a:p xmlns:a="http://schemas.openxmlformats.org/drawingml/2006/main">
            <a:r>
              <a:t/>
            </a:r>
          </a:p>
          <a:p xmlns:a="http://schemas.openxmlformats.org/drawingml/2006/main">
            <a:r>
              <a:t>Sources and image credits, not spoken:</a:t>
            </a:r>
          </a:p>
          <a:p xmlns:a="http://schemas.openxmlformats.org/drawingml/2006/main">
            <a:r>
              <a:t>- https://github.com/6bilguun9/vthacks/blob/0c04e56e145e6ab242b62edec231b6f2e33781d5/frontend/src/features/dashboard/accessibility-tools.tsx</a:t>
            </a:r>
          </a:p>
          <a:p xmlns:a="http://schemas.openxmlformats.org/drawingml/2006/main">
            <a:r>
              <a:t>- https://github.com/6bilguun9/vthacks/blob/0c04e56e145e6ab242b62edec231b6f2e33781d5/frontend/src/features/dashboard/interface-language.ts</a:t>
            </a:r>
          </a:p>
          <a:p xmlns:a="http://schemas.openxmlformats.org/drawingml/2006/main">
            <a:r>
              <a:t>- https://github.com/6bilguun9/vthacks/blob/0c04e56e145e6ab242b62edec231b6f2e33781d5/frontend/src/features/dashboard/campus-shell.tsx</a:t>
            </a:r>
          </a:p>
          <a:p xmlns:a="http://schemas.openxmlformats.org/drawingml/2006/main">
            <a:r>
              <a:t>- Screenshot of team prototype, main commit 0c04e56. HokieBird photo: Virginia Tech, https://www.archive.vtmag.vt.edu/fall18/HokieBirdGallery.php . Origami photo supplied by Neha; source record: https://github.com/6bilguun9/vthacks/blob/0c04e56e145e6ab242b62edec231b6f2e33781d5/frontend/public/campus/README.md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Grant | 2:00–2:40 · 40 seconds</a:t>
            </a:r>
          </a:p>
          <a:p xmlns:a="http://schemas.openxmlformats.org/drawingml/2006/main">
            <a:r>
              <a:t/>
            </a:r>
          </a:p>
          <a:p xmlns:a="http://schemas.openxmlformats.org/drawingml/2006/main">
            <a:r>
              <a:t>I’m Grant. Dining makes this useful for Hokies. Students enter their meal plan, balance, weeks left, and preferences or class schedule. Our dining backend asks VT ARC for a representative week of meals, prioritizing included swipes and exchanges before dining dollars. It checks the response and recalculates costs from the individual meals. It rejects estimates that exceed the supplied balance. Prices remain estimates, with current hours linked, so students can check before they go. The goal is to use the benefits they already paid for.</a:t>
            </a:r>
          </a:p>
          <a:p xmlns:a="http://schemas.openxmlformats.org/drawingml/2006/main">
            <a:r>
              <a:t/>
            </a:r>
          </a:p>
          <a:p xmlns:a="http://schemas.openxmlformats.org/drawingml/2006/main">
            <a:r>
              <a:t>Context, not spoken: The screenshot is the latest UI with sample inputs. Dining is a separate ARC workflow, not a third ANS agent. It proposes a budget-conscious representative week, not a mathematically optimal plan. Current menus and prices are not fetched live.</a:t>
            </a:r>
          </a:p>
          <a:p xmlns:a="http://schemas.openxmlformats.org/drawingml/2006/main">
            <a:r>
              <a:t/>
            </a:r>
          </a:p>
          <a:p xmlns:a="http://schemas.openxmlformats.org/drawingml/2006/main">
            <a:r>
              <a:t>Sources and image credits, not spoken:</a:t>
            </a:r>
          </a:p>
          <a:p xmlns:a="http://schemas.openxmlformats.org/drawingml/2006/main">
            <a:r>
              <a:t>- https://github.com/6bilguun9/vthacks/blob/0c04e56e145e6ab242b62edec231b6f2e33781d5/backend/src/routes/dining-plan.ts</a:t>
            </a:r>
          </a:p>
          <a:p xmlns:a="http://schemas.openxmlformats.org/drawingml/2006/main">
            <a:r>
              <a:t>- https://github.com/6bilguun9/vthacks/blob/0c04e56e145e6ab242b62edec231b6f2e33781d5/backend/src/agents/dining-prompt.ts</a:t>
            </a:r>
          </a:p>
          <a:p xmlns:a="http://schemas.openxmlformats.org/drawingml/2006/main">
            <a:r>
              <a:t>- https://github.com/6bilguun9/vthacks/blob/0c04e56e145e6ab242b62edec231b6f2e33781d5/backend/src/agents/dining.ts</a:t>
            </a:r>
          </a:p>
          <a:p xmlns:a="http://schemas.openxmlformats.org/drawingml/2006/main">
            <a:r>
              <a:t>- https://github.com/6bilguun9/vthacks/blob/0c04e56e145e6ab242b62edec231b6f2e33781d5/frontend/src/app/dining/page.tsx</a:t>
            </a:r>
          </a:p>
          <a:p xmlns:a="http://schemas.openxmlformats.org/drawingml/2006/main">
            <a:r>
              <a:t>- Screenshot of team prototype, main commit 0c04e56. HokieBird photo: Virginia Tech, https://www.archive.vtmag.vt.edu/fall18/HokieBirdGallery.php . Origami photo supplied by Neha; source record: https://github.com/6bilguun9/vthacks/blob/0c04e56e145e6ab242b62edec231b6f2e33781d5/frontend/public/campus/README.md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Grant | 2:40–3:00 · 20 seconds</a:t>
            </a:r>
          </a:p>
          <a:p xmlns:a="http://schemas.openxmlformats.org/drawingml/2006/main">
            <a:r>
              <a:t/>
            </a:r>
          </a:p>
          <a:p xmlns:a="http://schemas.openxmlformats.org/drawingml/2006/main">
            <a:r>
              <a:t>Behind the screens, our API combines a saved financial plan with Nessie sandbox banking data and student-entered campus balances. Supabase stores each guest’s state. Those backend workflows are implemented. The dashboard’s authenticated connection is still in progress, which is why these screens show sample data.</a:t>
            </a:r>
          </a:p>
          <a:p xmlns:a="http://schemas.openxmlformats.org/drawingml/2006/main">
            <a:r>
              <a:t/>
            </a:r>
          </a:p>
          <a:p xmlns:a="http://schemas.openxmlformats.org/drawingml/2006/main">
            <a:r>
              <a:t>Context, not spoken: The diagram represents the finance API architecture. Dining takes its inputs directly from the form and does not yet share this saved snapshot. Nessie is a sandbox, not a connection to actual student bank accounts.</a:t>
            </a:r>
          </a:p>
          <a:p xmlns:a="http://schemas.openxmlformats.org/drawingml/2006/main">
            <a:r>
              <a:t/>
            </a:r>
          </a:p>
          <a:p xmlns:a="http://schemas.openxmlformats.org/drawingml/2006/main">
            <a:r>
              <a:t>Sources and image credits, not spoken:</a:t>
            </a:r>
          </a:p>
          <a:p xmlns:a="http://schemas.openxmlformats.org/drawingml/2006/main">
            <a:r>
              <a:t>- https://github.com/6bilguun9/vthacks/blob/0c04e56e145e6ab242b62edec231b6f2e33781d5/backend/src/application/finance-api.ts</a:t>
            </a:r>
          </a:p>
          <a:p xmlns:a="http://schemas.openxmlformats.org/drawingml/2006/main">
            <a:r>
              <a:t>- https://github.com/6bilguun9/vthacks/blob/0c04e56e145e6ab242b62edec231b6f2e33781d5/backend/src/persistence/infrastructure.ts</a:t>
            </a:r>
          </a:p>
          <a:p xmlns:a="http://schemas.openxmlformats.org/drawingml/2006/main">
            <a:r>
              <a:t>- https://github.com/6bilguun9/vthacks/blob/0c04e56e145e6ab242b62edec231b6f2e33781d5/backend/src/auth/supabase.ts</a:t>
            </a:r>
          </a:p>
          <a:p xmlns:a="http://schemas.openxmlformats.org/drawingml/2006/main">
            <a:r>
              <a:t>- https://github.com/6bilguun9/vthacks/blob/0c04e56e145e6ab242b62edec231b6f2e33781d5/frontend/src/lib/api.ts</a:t>
            </a:r>
          </a:p>
          <a:p xmlns:a="http://schemas.openxmlformats.org/drawingml/2006/main">
            <a:r>
              <a:t>- https://api.nessieisreal.com/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Bilguun | 3:00–3:40 · 40 seconds</a:t>
            </a:r>
          </a:p>
          <a:p xmlns:a="http://schemas.openxmlformats.org/drawingml/2006/main">
            <a:r>
              <a:t/>
            </a:r>
          </a:p>
          <a:p xmlns:a="http://schemas.openxmlformats.org/drawingml/2006/main">
            <a:r>
              <a:t>I’m Bilguun. Our coach and planner have different jobs. VT ARC turns a supported money question into a structured request. For a purchase comparison, the coach discovers our planner through GoDaddy ANS, then sends a signed, authenticated message. The planner uses deterministic calculations to compare cash flow and savings goals before and after that purchase. It returns the comparison, and the coach explains it in plain language. This helps students understand a trade-off before spending. Previewing a scenario never changes the saved plan.</a:t>
            </a:r>
          </a:p>
          <a:p xmlns:a="http://schemas.openxmlformats.org/drawingml/2006/main">
            <a:r>
              <a:t/>
            </a:r>
          </a:p>
          <a:p xmlns:a="http://schemas.openxmlformats.org/drawingml/2006/main">
            <a:r>
              <a:t>Context, not spoken: This is the implemented purchase-comparison path, not a captured live ANS run. Coach and Planner are separate agent identities within one backend deployment. Explanations use templates. A configured local fallback is explicitly labeled in the API response. No claim that dining communicates through ANS.</a:t>
            </a:r>
          </a:p>
          <a:p xmlns:a="http://schemas.openxmlformats.org/drawingml/2006/main">
            <a:r>
              <a:t/>
            </a:r>
          </a:p>
          <a:p xmlns:a="http://schemas.openxmlformats.org/drawingml/2006/main">
            <a:r>
              <a:t>Sources and image credits, not spoken:</a:t>
            </a:r>
          </a:p>
          <a:p xmlns:a="http://schemas.openxmlformats.org/drawingml/2006/main">
            <a:r>
              <a:t>- https://github.com/6bilguun9/vthacks/blob/0c04e56e145e6ab242b62edec231b6f2e33781d5/backend/src/agents/service.ts</a:t>
            </a:r>
          </a:p>
          <a:p xmlns:a="http://schemas.openxmlformats.org/drawingml/2006/main">
            <a:r>
              <a:t>- https://github.com/6bilguun9/vthacks/blob/0c04e56e145e6ab242b62edec231b6f2e33781d5/backend/src/integrations/planner-client.ts</a:t>
            </a:r>
          </a:p>
          <a:p xmlns:a="http://schemas.openxmlformats.org/drawingml/2006/main">
            <a:r>
              <a:t>- https://github.com/6bilguun9/vthacks/blob/0c04e56e145e6ab242b62edec231b6f2e33781d5/backend/src/services/planning.ts</a:t>
            </a:r>
          </a:p>
          <a:p xmlns:a="http://schemas.openxmlformats.org/drawingml/2006/main">
            <a:r>
              <a:t>- https://github.com/6bilguun9/vthacks/blob/0c04e56e145e6ab242b62edec231b6f2e33781d5/backend/src/routes/agents.ts</a:t>
            </a:r>
          </a:p>
          <a:p xmlns:a="http://schemas.openxmlformats.org/drawingml/2006/main">
            <a:r>
              <a:t>- https://github.com/6bilguun9/vthacks/blob/0c04e56e145e6ab242b62edec231b6f2e33781d5/backend/src/application/finance-api.ts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Bilguun | 3:40–4:00 · 20 seconds</a:t>
            </a:r>
          </a:p>
          <a:p xmlns:a="http://schemas.openxmlformats.org/drawingml/2006/main">
            <a:r>
              <a:t/>
            </a:r>
          </a:p>
          <a:p xmlns:a="http://schemas.openxmlformats.org/drawingml/2006/main">
            <a:r>
              <a:t>That connects our work to the challenges: Nessie supplies banking context, ANS enables agent discovery, and campus dining planning fits Deloitte and Databricks’ student-experience theme. Our goal is straightforward: help Hokies understand what they can afford today while protecting what they need tomorrow. Thank you.</a:t>
            </a:r>
          </a:p>
          <a:p xmlns:a="http://schemas.openxmlformats.org/drawingml/2006/main">
            <a:r>
              <a:t/>
            </a:r>
          </a:p>
          <a:p xmlns:a="http://schemas.openxmlformats.org/drawingml/2006/main">
            <a:r>
              <a:t>Context, not spoken: This slide describes relevant challenge alignment, not a claim that every sponsor requirement is already fulfilled. Real configured Nessie and ANS execution and final frontend integration need end-to-end verification. Deloitte × Databricks alignment is with its student-experience theme, not a claim that the project uses Databricks.</a:t>
            </a:r>
          </a:p>
          <a:p xmlns:a="http://schemas.openxmlformats.org/drawingml/2006/main">
            <a:r>
              <a:t/>
            </a:r>
          </a:p>
          <a:p xmlns:a="http://schemas.openxmlformats.org/drawingml/2006/main">
            <a:r>
              <a:t>Sources and image credits, not spoken:</a:t>
            </a:r>
          </a:p>
          <a:p xmlns:a="http://schemas.openxmlformats.org/drawingml/2006/main">
            <a:r>
              <a:t>- https://vthacks.com/guide</a:t>
            </a:r>
          </a:p>
          <a:p xmlns:a="http://schemas.openxmlformats.org/drawingml/2006/main">
            <a:r>
              <a:t>- https://github.com/6bilguun9/vthacks/blob/0c04e56e145e6ab242b62edec231b6f2e33781d5/backend/src/integrations</a:t>
            </a:r>
          </a:p>
          <a:p xmlns:a="http://schemas.openxmlformats.org/drawingml/2006/main">
            <a:r>
              <a:t>- https://github.com/6bilguun9/vthacks/blob/0c04e56e145e6ab242b62edec231b6f2e33781d5/backend/src/agents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01dad31a3046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01892ffea94370" /><Relationship Type="http://schemas.openxmlformats.org/officeDocument/2006/relationships/slideLayout" Target="/ppt/slideLayouts/slideLayout1.xml" Id="R795555ee4bd64a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5555ee4bd64a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ff7918b44841e8" /><Relationship Type="http://schemas.openxmlformats.org/officeDocument/2006/relationships/notesSlide" Target="/ppt/notesSlides/notesSlide1.xml" Id="Rb83407a4f82b45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89d038a8b84605" /><Relationship Type="http://schemas.openxmlformats.org/officeDocument/2006/relationships/notesSlide" Target="/ppt/notesSlides/notesSlide2.xml" Id="Rfda4caaeab934c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aae8b6f1c64329" /><Relationship Type="http://schemas.openxmlformats.org/officeDocument/2006/relationships/image" Target="/ppt/media/image.jpeg" Id="Rbaa699d96070436f" /><Relationship Type="http://schemas.openxmlformats.org/officeDocument/2006/relationships/notesSlide" Target="/ppt/notesSlides/notesSlide3.xml" Id="Rfe786836030d48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9ae2c421ce49fd" /><Relationship Type="http://schemas.openxmlformats.org/officeDocument/2006/relationships/image" Target="/ppt/media/image2.jpeg" Id="Rda54bb010fb647d9" /><Relationship Type="http://schemas.openxmlformats.org/officeDocument/2006/relationships/notesSlide" Target="/ppt/notesSlides/notesSlide4.xml" Id="Ra6a54b37b3fb4b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520084aba54716" /><Relationship Type="http://schemas.openxmlformats.org/officeDocument/2006/relationships/image" Target="/ppt/media/image.png" Id="Rf220fb5ca9ad4568" /><Relationship Type="http://schemas.openxmlformats.org/officeDocument/2006/relationships/notesSlide" Target="/ppt/notesSlides/notesSlide5.xml" Id="R747cbf782a5e49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2ccfdcc3b944a4" /><Relationship Type="http://schemas.openxmlformats.org/officeDocument/2006/relationships/image" Target="/ppt/media/image3.jpeg" Id="Rc061afd54fb44e4c" /><Relationship Type="http://schemas.openxmlformats.org/officeDocument/2006/relationships/notesSlide" Target="/ppt/notesSlides/notesSlide6.xml" Id="Rab98daf2b7584a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98eb7e78fa49f6" /><Relationship Type="http://schemas.openxmlformats.org/officeDocument/2006/relationships/notesSlide" Target="/ppt/notesSlides/notesSlide7.xml" Id="R44062de4caf340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c9d1f3c2284729" /><Relationship Type="http://schemas.openxmlformats.org/officeDocument/2006/relationships/notesSlide" Target="/ppt/notesSlides/notesSlide8.xml" Id="R33ce43af9e0540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3e20abdf754f04" /><Relationship Type="http://schemas.openxmlformats.org/officeDocument/2006/relationships/notesSlide" Target="/ppt/notesSlides/notesSlide9.xml" Id="Rc1c9175485714e5f" /></Relationships>
</file>

<file path=ppt/slides/slide1.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7C9DE3-253B-4CC7-8C0F-E58EFC907FEB}"/>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2" name="">
            <a:extLst xmlns:a="http://schemas.openxmlformats.org/drawingml/2006/main">
              <a:ext uri="{FF2B5EF4-FFF2-40B4-BE49-F238E27FC236}">
                <a16:creationId xmlns:a16="http://schemas.microsoft.com/office/drawing/2014/main" id="{DB654921-A665-46E6-AEC3-72033BE4B86B}"/>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AD37CF8-01B6-4D85-B300-783944208BE9}"/>
              </a:ext>
            </a:extLst>
          </p:cNvPr>
          <p:cNvSpPr>
            <a:spLocks xmlns:a="http://schemas.openxmlformats.org/drawingml/2006/main" noGrp="1"/>
          </p:cNvSpPr>
          <p:nvPr/>
        </p:nvSpPr>
        <p:spPr>
          <a:xfrm xmlns:a="http://schemas.openxmlformats.org/drawingml/2006/main">
            <a:off x="609600" y="13906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600" b="1">
                <a:solidFill>
                  <a:srgbClr val="6B263E"/>
                </a:solidFill>
                <a:latin typeface="Helvetica Neue"/>
                <a:ea typeface="Helvetica Neue"/>
                <a:cs typeface="Helvetica Neue"/>
              </a:defRPr>
            </a:pPr>
            <a:r>
              <a:rPr sz="6600" b="1">
                <a:solidFill>
                  <a:srgbClr val="6B263E"/>
                </a:solidFill>
                <a:latin typeface="Helvetica Neue"/>
                <a:ea typeface="Helvetica Neue"/>
                <a:cs typeface="Helvetica Neue"/>
              </a:rPr>
              <a:t>Hokie Wallet</a:t>
            </a:r>
          </a:p>
        </p:txBody>
      </p:sp>
      <p:sp>
        <p:nvSpPr>
          <p:cNvPr id="4" name="">
            <a:extLst xmlns:a="http://schemas.openxmlformats.org/drawingml/2006/main">
              <a:ext uri="{FF2B5EF4-FFF2-40B4-BE49-F238E27FC236}">
                <a16:creationId xmlns:a16="http://schemas.microsoft.com/office/drawing/2014/main" id="{4ACBAA27-D7FC-4D87-8C94-C78838099B1D}"/>
              </a:ext>
            </a:extLst>
          </p:cNvPr>
          <p:cNvSpPr>
            <a:spLocks xmlns:a="http://schemas.openxmlformats.org/drawingml/2006/main" noGrp="1"/>
          </p:cNvSpPr>
          <p:nvPr/>
        </p:nvSpPr>
        <p:spPr>
          <a:xfrm xmlns:a="http://schemas.openxmlformats.org/drawingml/2006/main">
            <a:off x="647700" y="2647950"/>
            <a:ext cx="1047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a:solidFill>
                  <a:srgbClr val="282226"/>
                </a:solidFill>
                <a:latin typeface="Helvetica Neue"/>
                <a:ea typeface="Helvetica Neue"/>
                <a:cs typeface="Helvetica Neue"/>
              </a:defRPr>
            </a:pPr>
            <a:r>
              <a:rPr sz="3600">
                <a:solidFill>
                  <a:srgbClr val="282226"/>
                </a:solidFill>
                <a:latin typeface="Helvetica Neue"/>
                <a:ea typeface="Helvetica Neue"/>
                <a:cs typeface="Helvetica Neue"/>
              </a:rPr>
              <a:t>Budgeting guidance for everyday</a:t>
            </a:r>
          </a:p>
          <a:p xmlns:a="http://schemas.openxmlformats.org/drawingml/2006/main">
            <a:pPr>
              <a:defRPr sz="3600">
                <a:solidFill>
                  <a:srgbClr val="282226"/>
                </a:solidFill>
                <a:latin typeface="Helvetica Neue"/>
                <a:ea typeface="Helvetica Neue"/>
                <a:cs typeface="Helvetica Neue"/>
              </a:defRPr>
            </a:pPr>
            <a:r>
              <a:rPr sz="3600">
                <a:solidFill>
                  <a:srgbClr val="282226"/>
                </a:solidFill>
                <a:latin typeface="Helvetica Neue"/>
                <a:ea typeface="Helvetica Neue"/>
                <a:cs typeface="Helvetica Neue"/>
              </a:rPr>
              <a:t>student decisions</a:t>
            </a:r>
          </a:p>
        </p:txBody>
      </p:sp>
      <p:sp>
        <p:nvSpPr>
          <p:cNvPr id="5" name="">
            <a:extLst xmlns:a="http://schemas.openxmlformats.org/drawingml/2006/main">
              <a:ext uri="{FF2B5EF4-FFF2-40B4-BE49-F238E27FC236}">
                <a16:creationId xmlns:a16="http://schemas.microsoft.com/office/drawing/2014/main" id="{28CB1230-50FB-4BE4-9831-E1B6D7F2D796}"/>
              </a:ext>
            </a:extLst>
          </p:cNvPr>
          <p:cNvSpPr>
            <a:spLocks xmlns:a="http://schemas.openxmlformats.org/drawingml/2006/main" noGrp="1"/>
          </p:cNvSpPr>
          <p:nvPr/>
        </p:nvSpPr>
        <p:spPr>
          <a:xfrm xmlns:a="http://schemas.openxmlformats.org/drawingml/2006/main">
            <a:off x="647700" y="462915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61575C"/>
                </a:solidFill>
                <a:latin typeface="Helvetica Neue"/>
                <a:ea typeface="Helvetica Neue"/>
                <a:cs typeface="Helvetica Neue"/>
              </a:defRPr>
            </a:pPr>
            <a:r>
              <a:rPr sz="1875">
                <a:solidFill>
                  <a:srgbClr val="61575C"/>
                </a:solidFill>
                <a:latin typeface="Helvetica Neue"/>
                <a:ea typeface="Helvetica Neue"/>
                <a:cs typeface="Helvetica Neue"/>
              </a:rPr>
              <a:t>Carlos and Neha</a:t>
            </a:r>
          </a:p>
          <a:p xmlns:a="http://schemas.openxmlformats.org/drawingml/2006/main">
            <a:pPr>
              <a:defRPr sz="1875">
                <a:solidFill>
                  <a:srgbClr val="61575C"/>
                </a:solidFill>
                <a:latin typeface="Helvetica Neue"/>
                <a:ea typeface="Helvetica Neue"/>
                <a:cs typeface="Helvetica Neue"/>
              </a:defRPr>
            </a:pPr>
            <a:r>
              <a:rPr sz="1875">
                <a:solidFill>
                  <a:srgbClr val="61575C"/>
                </a:solidFill>
                <a:latin typeface="Helvetica Neue"/>
                <a:ea typeface="Helvetica Neue"/>
                <a:cs typeface="Helvetica Neue"/>
              </a:rPr>
              <a:t>Frontend</a:t>
            </a:r>
          </a:p>
        </p:txBody>
      </p:sp>
      <p:sp>
        <p:nvSpPr>
          <p:cNvPr id="6" name="">
            <a:extLst xmlns:a="http://schemas.openxmlformats.org/drawingml/2006/main">
              <a:ext uri="{FF2B5EF4-FFF2-40B4-BE49-F238E27FC236}">
                <a16:creationId xmlns:a16="http://schemas.microsoft.com/office/drawing/2014/main" id="{4B43AC28-97C5-4877-B7E1-049481DEBCF9}"/>
              </a:ext>
            </a:extLst>
          </p:cNvPr>
          <p:cNvSpPr>
            <a:spLocks xmlns:a="http://schemas.openxmlformats.org/drawingml/2006/main" noGrp="1"/>
          </p:cNvSpPr>
          <p:nvPr/>
        </p:nvSpPr>
        <p:spPr>
          <a:xfrm xmlns:a="http://schemas.openxmlformats.org/drawingml/2006/main">
            <a:off x="6305550" y="462915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61575C"/>
                </a:solidFill>
                <a:latin typeface="Helvetica Neue"/>
                <a:ea typeface="Helvetica Neue"/>
                <a:cs typeface="Helvetica Neue"/>
              </a:defRPr>
            </a:pPr>
            <a:r>
              <a:rPr sz="1875">
                <a:solidFill>
                  <a:srgbClr val="61575C"/>
                </a:solidFill>
                <a:latin typeface="Helvetica Neue"/>
                <a:ea typeface="Helvetica Neue"/>
                <a:cs typeface="Helvetica Neue"/>
              </a:rPr>
              <a:t>Bilguun and Grant</a:t>
            </a:r>
          </a:p>
          <a:p xmlns:a="http://schemas.openxmlformats.org/drawingml/2006/main">
            <a:pPr>
              <a:defRPr sz="1875">
                <a:solidFill>
                  <a:srgbClr val="61575C"/>
                </a:solidFill>
                <a:latin typeface="Helvetica Neue"/>
                <a:ea typeface="Helvetica Neue"/>
                <a:cs typeface="Helvetica Neue"/>
              </a:defRPr>
            </a:pPr>
            <a:r>
              <a:rPr sz="1875">
                <a:solidFill>
                  <a:srgbClr val="61575C"/>
                </a:solidFill>
                <a:latin typeface="Helvetica Neue"/>
                <a:ea typeface="Helvetica Neue"/>
                <a:cs typeface="Helvetica Neue"/>
              </a:rPr>
              <a:t>Backend</a:t>
            </a:r>
          </a:p>
        </p:txBody>
      </p:sp>
      <p:sp>
        <p:nvSpPr>
          <p:cNvPr id="7" name="">
            <a:extLst xmlns:a="http://schemas.openxmlformats.org/drawingml/2006/main">
              <a:ext uri="{FF2B5EF4-FFF2-40B4-BE49-F238E27FC236}">
                <a16:creationId xmlns:a16="http://schemas.microsoft.com/office/drawing/2014/main" id="{EE37DD23-C15B-4390-AC17-724FF005F9AC}"/>
              </a:ext>
            </a:extLst>
          </p:cNvPr>
          <p:cNvSpPr>
            <a:spLocks xmlns:a="http://schemas.openxmlformats.org/drawingml/2006/main" noGrp="1"/>
          </p:cNvSpPr>
          <p:nvPr/>
        </p:nvSpPr>
        <p:spPr>
          <a:xfrm xmlns:a="http://schemas.openxmlformats.org/drawingml/2006/main">
            <a:off x="647700" y="56388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a:solidFill>
                  <a:srgbClr val="6B263E"/>
                </a:solidFill>
                <a:latin typeface="Helvetica Neue"/>
                <a:ea typeface="Helvetica Neue"/>
                <a:cs typeface="Helvetica Neue"/>
              </a:defRPr>
            </a:pPr>
            <a:r>
              <a:rPr sz="1800">
                <a:solidFill>
                  <a:srgbClr val="6B263E"/>
                </a:solidFill>
                <a:latin typeface="Helvetica Neue"/>
                <a:ea typeface="Helvetica Neue"/>
                <a:cs typeface="Helvetica Neue"/>
              </a:rPr>
              <a:t>sudoWin   /   VTHacks 14</a:t>
            </a:r>
          </a:p>
        </p:txBody>
      </p:sp>
    </p:spTree>
    <p:extLst>
      <p:ext uri="{BB962C8B-B14F-4D97-AF65-F5344CB8AC3E}">
        <p14:creationId xmlns:p14="http://schemas.microsoft.com/office/powerpoint/2010/main" val="851284772"/>
      </p:ext>
    </p:extLst>
  </p:cSld>
</p:sld>
</file>

<file path=ppt/slides/slide2.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AA090E-4176-4E59-ADDD-CB78BDCBE32E}"/>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The student budgeting problem</a:t>
            </a:r>
          </a:p>
        </p:txBody>
      </p:sp>
      <p:sp>
        <p:nvSpPr>
          <p:cNvPr id="2" name="">
            <a:extLst xmlns:a="http://schemas.openxmlformats.org/drawingml/2006/main">
              <a:ext uri="{FF2B5EF4-FFF2-40B4-BE49-F238E27FC236}">
                <a16:creationId xmlns:a16="http://schemas.microsoft.com/office/drawing/2014/main" id="{2F24F7C6-559F-489D-B787-78A7EF6869AC}"/>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8A01150A-11D8-4E46-A697-E5258E57925F}"/>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73A0B13C-0D0D-42BA-AB48-705E4ED63290}"/>
              </a:ext>
            </a:extLst>
          </p:cNvPr>
          <p:cNvSpPr>
            <a:spLocks xmlns:a="http://schemas.openxmlformats.org/drawingml/2006/main" noGrp="1"/>
          </p:cNvSpPr>
          <p:nvPr/>
        </p:nvSpPr>
        <p:spPr>
          <a:xfrm xmlns:a="http://schemas.openxmlformats.org/drawingml/2006/main">
            <a:off x="609600" y="18478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a:solidFill>
                  <a:srgbClr val="61575C"/>
                </a:solidFill>
                <a:latin typeface="Helvetica Neue"/>
                <a:ea typeface="Helvetica Neue"/>
                <a:cs typeface="Helvetica Neue"/>
              </a:defRPr>
            </a:pPr>
            <a:r>
              <a:rPr sz="2925">
                <a:solidFill>
                  <a:srgbClr val="61575C"/>
                </a:solidFill>
                <a:latin typeface="Helvetica Neue"/>
                <a:ea typeface="Helvetica Neue"/>
                <a:cs typeface="Helvetica Neue"/>
              </a:rPr>
              <a:t>A balance tells you what remains.</a:t>
            </a:r>
          </a:p>
        </p:txBody>
      </p:sp>
      <p:sp>
        <p:nvSpPr>
          <p:cNvPr id="5" name="">
            <a:extLst xmlns:a="http://schemas.openxmlformats.org/drawingml/2006/main">
              <a:ext uri="{FF2B5EF4-FFF2-40B4-BE49-F238E27FC236}">
                <a16:creationId xmlns:a16="http://schemas.microsoft.com/office/drawing/2014/main" id="{A1AC8AAE-9012-4390-BB8A-B4A7E076AB23}"/>
              </a:ext>
            </a:extLst>
          </p:cNvPr>
          <p:cNvSpPr>
            <a:spLocks xmlns:a="http://schemas.openxmlformats.org/drawingml/2006/main" noGrp="1"/>
          </p:cNvSpPr>
          <p:nvPr/>
        </p:nvSpPr>
        <p:spPr>
          <a:xfrm xmlns:a="http://schemas.openxmlformats.org/drawingml/2006/main">
            <a:off x="609600" y="2657475"/>
            <a:ext cx="1076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6B263E"/>
                </a:solidFill>
                <a:latin typeface="Helvetica Neue"/>
                <a:ea typeface="Helvetica Neue"/>
                <a:cs typeface="Helvetica Neue"/>
              </a:defRPr>
            </a:pPr>
            <a:r>
              <a:rPr sz="4050" b="1">
                <a:solidFill>
                  <a:srgbClr val="6B263E"/>
                </a:solidFill>
                <a:latin typeface="Helvetica Neue"/>
                <a:ea typeface="Helvetica Neue"/>
                <a:cs typeface="Helvetica Neue"/>
              </a:rPr>
              <a:t>“What can I spend today</a:t>
            </a:r>
          </a:p>
          <a:p xmlns:a="http://schemas.openxmlformats.org/drawingml/2006/main">
            <a:pPr>
              <a:defRPr sz="4050" b="1">
                <a:solidFill>
                  <a:srgbClr val="6B263E"/>
                </a:solidFill>
                <a:latin typeface="Helvetica Neue"/>
                <a:ea typeface="Helvetica Neue"/>
                <a:cs typeface="Helvetica Neue"/>
              </a:defRPr>
            </a:pPr>
            <a:r>
              <a:rPr sz="4050" b="1">
                <a:solidFill>
                  <a:srgbClr val="6B263E"/>
                </a:solidFill>
                <a:latin typeface="Helvetica Neue"/>
                <a:ea typeface="Helvetica Neue"/>
                <a:cs typeface="Helvetica Neue"/>
              </a:rPr>
              <a:t>and still have enough later?”</a:t>
            </a:r>
          </a:p>
        </p:txBody>
      </p:sp>
      <p:sp>
        <p:nvSpPr>
          <p:cNvPr id="6" name="">
            <a:extLst xmlns:a="http://schemas.openxmlformats.org/drawingml/2006/main">
              <a:ext uri="{FF2B5EF4-FFF2-40B4-BE49-F238E27FC236}">
                <a16:creationId xmlns:a16="http://schemas.microsoft.com/office/drawing/2014/main" id="{2C6144BF-34AB-461F-A9B9-B75C96FC0F2E}"/>
              </a:ext>
            </a:extLst>
          </p:cNvPr>
          <p:cNvSpPr>
            <a:spLocks xmlns:a="http://schemas.openxmlformats.org/drawingml/2006/main" noGrp="1"/>
          </p:cNvSpPr>
          <p:nvPr/>
        </p:nvSpPr>
        <p:spPr>
          <a:xfrm xmlns:a="http://schemas.openxmlformats.org/drawingml/2006/main">
            <a:off x="609600" y="48387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82226"/>
                </a:solidFill>
                <a:latin typeface="Helvetica Neue"/>
                <a:ea typeface="Helvetica Neue"/>
                <a:cs typeface="Helvetica Neue"/>
              </a:defRPr>
            </a:pPr>
            <a:r>
              <a:rPr sz="2325">
                <a:solidFill>
                  <a:srgbClr val="282226"/>
                </a:solidFill>
                <a:latin typeface="Helvetica Neue"/>
                <a:ea typeface="Helvetica Neue"/>
                <a:cs typeface="Helvetica Neue"/>
              </a:rPr>
              <a:t>Students still connect dining funds, everyday spending,</a:t>
            </a:r>
          </a:p>
          <a:p xmlns:a="http://schemas.openxmlformats.org/drawingml/2006/main">
            <a:pPr>
              <a:defRPr sz="2325">
                <a:solidFill>
                  <a:srgbClr val="282226"/>
                </a:solidFill>
                <a:latin typeface="Helvetica Neue"/>
                <a:ea typeface="Helvetica Neue"/>
                <a:cs typeface="Helvetica Neue"/>
              </a:defRPr>
            </a:pPr>
            <a:r>
              <a:rPr sz="2325">
                <a:solidFill>
                  <a:srgbClr val="282226"/>
                </a:solidFill>
                <a:latin typeface="Helvetica Neue"/>
                <a:ea typeface="Helvetica Neue"/>
                <a:cs typeface="Helvetica Neue"/>
              </a:rPr>
              <a:t>and savings goals themselves.</a:t>
            </a:r>
          </a:p>
        </p:txBody>
      </p:sp>
    </p:spTree>
    <p:extLst>
      <p:ext uri="{BB962C8B-B14F-4D97-AF65-F5344CB8AC3E}">
        <p14:creationId xmlns:p14="http://schemas.microsoft.com/office/powerpoint/2010/main" val="1514628705"/>
      </p:ext>
    </p:extLst>
  </p:cSld>
</p:sld>
</file>

<file path=ppt/slides/slide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54AF7B-8831-4269-AC6B-2312687D96F1}"/>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Your money at a glance</a:t>
            </a:r>
          </a:p>
        </p:txBody>
      </p:sp>
      <p:sp>
        <p:nvSpPr>
          <p:cNvPr id="2" name="">
            <a:extLst xmlns:a="http://schemas.openxmlformats.org/drawingml/2006/main">
              <a:ext uri="{FF2B5EF4-FFF2-40B4-BE49-F238E27FC236}">
                <a16:creationId xmlns:a16="http://schemas.microsoft.com/office/drawing/2014/main" id="{AD13A3FB-FF65-4232-8CF3-51073F41CE2B}"/>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23FE76AA-CA88-4DEE-9FE7-26018F48335C}"/>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7A41C33-013E-44CF-8C0E-0447D28486F7}"/>
              </a:ext>
            </a:extLst>
          </p:cNvPr>
          <p:cNvSpPr>
            <a:spLocks xmlns:a="http://schemas.openxmlformats.org/drawingml/2006/main" noGrp="1"/>
          </p:cNvSpPr>
          <p:nvPr/>
        </p:nvSpPr>
        <p:spPr>
          <a:xfrm xmlns:a="http://schemas.openxmlformats.org/drawingml/2006/main">
            <a:off x="609600" y="17335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6B263E"/>
                </a:solidFill>
                <a:latin typeface="Helvetica Neue"/>
                <a:ea typeface="Helvetica Neue"/>
                <a:cs typeface="Helvetica Neue"/>
              </a:defRPr>
            </a:pPr>
            <a:r>
              <a:rPr sz="2175" b="1">
                <a:solidFill>
                  <a:srgbClr val="6B263E"/>
                </a:solidFill>
                <a:latin typeface="Helvetica Neue"/>
                <a:ea typeface="Helvetica Neue"/>
                <a:cs typeface="Helvetica Neue"/>
              </a:rPr>
              <a:t>Overview</a:t>
            </a:r>
          </a:p>
        </p:txBody>
      </p:sp>
      <p:sp>
        <p:nvSpPr>
          <p:cNvPr id="5" name="">
            <a:extLst xmlns:a="http://schemas.openxmlformats.org/drawingml/2006/main">
              <a:ext uri="{FF2B5EF4-FFF2-40B4-BE49-F238E27FC236}">
                <a16:creationId xmlns:a16="http://schemas.microsoft.com/office/drawing/2014/main" id="{EE449074-E454-419D-B2B0-5367AFB499AC}"/>
              </a:ext>
            </a:extLst>
          </p:cNvPr>
          <p:cNvSpPr>
            <a:spLocks xmlns:a="http://schemas.openxmlformats.org/drawingml/2006/main" noGrp="1"/>
          </p:cNvSpPr>
          <p:nvPr/>
        </p:nvSpPr>
        <p:spPr>
          <a:xfrm xmlns:a="http://schemas.openxmlformats.org/drawingml/2006/main">
            <a:off x="609600" y="2162175"/>
            <a:ext cx="2400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Bank cash, campus</a:t>
            </a:r>
          </a:p>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funds, monthly spend</a:t>
            </a:r>
          </a:p>
        </p:txBody>
      </p:sp>
      <p:sp>
        <p:nvSpPr>
          <p:cNvPr id="6" name="">
            <a:extLst xmlns:a="http://schemas.openxmlformats.org/drawingml/2006/main">
              <a:ext uri="{FF2B5EF4-FFF2-40B4-BE49-F238E27FC236}">
                <a16:creationId xmlns:a16="http://schemas.microsoft.com/office/drawing/2014/main" id="{78E6FCAD-1012-44C7-8DA7-CA813225BE4A}"/>
              </a:ext>
            </a:extLst>
          </p:cNvPr>
          <p:cNvSpPr>
            <a:spLocks xmlns:a="http://schemas.openxmlformats.org/drawingml/2006/main" noGrp="1"/>
          </p:cNvSpPr>
          <p:nvPr/>
        </p:nvSpPr>
        <p:spPr>
          <a:xfrm xmlns:a="http://schemas.openxmlformats.org/drawingml/2006/main">
            <a:off x="609600" y="32575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6B263E"/>
                </a:solidFill>
                <a:latin typeface="Helvetica Neue"/>
                <a:ea typeface="Helvetica Neue"/>
                <a:cs typeface="Helvetica Neue"/>
              </a:defRPr>
            </a:pPr>
            <a:r>
              <a:rPr sz="2175" b="1">
                <a:solidFill>
                  <a:srgbClr val="6B263E"/>
                </a:solidFill>
                <a:latin typeface="Helvetica Neue"/>
                <a:ea typeface="Helvetica Neue"/>
                <a:cs typeface="Helvetica Neue"/>
              </a:rPr>
              <a:t>Activity</a:t>
            </a:r>
          </a:p>
        </p:txBody>
      </p:sp>
      <p:sp>
        <p:nvSpPr>
          <p:cNvPr id="7" name="">
            <a:extLst xmlns:a="http://schemas.openxmlformats.org/drawingml/2006/main">
              <a:ext uri="{FF2B5EF4-FFF2-40B4-BE49-F238E27FC236}">
                <a16:creationId xmlns:a16="http://schemas.microsoft.com/office/drawing/2014/main" id="{7091AFE6-0CD8-4852-87EC-8B997F916F42}"/>
              </a:ext>
            </a:extLst>
          </p:cNvPr>
          <p:cNvSpPr>
            <a:spLocks xmlns:a="http://schemas.openxmlformats.org/drawingml/2006/main" noGrp="1"/>
          </p:cNvSpPr>
          <p:nvPr/>
        </p:nvSpPr>
        <p:spPr>
          <a:xfrm xmlns:a="http://schemas.openxmlformats.org/drawingml/2006/main">
            <a:off x="609600" y="367665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See where money</a:t>
            </a:r>
          </a:p>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goes</a:t>
            </a:r>
          </a:p>
        </p:txBody>
      </p:sp>
      <p:sp>
        <p:nvSpPr>
          <p:cNvPr id="8" name="">
            <a:extLst xmlns:a="http://schemas.openxmlformats.org/drawingml/2006/main">
              <a:ext uri="{FF2B5EF4-FFF2-40B4-BE49-F238E27FC236}">
                <a16:creationId xmlns:a16="http://schemas.microsoft.com/office/drawing/2014/main" id="{86BCF235-A7D6-4930-819E-AF88BB8C2F13}"/>
              </a:ext>
            </a:extLst>
          </p:cNvPr>
          <p:cNvSpPr>
            <a:spLocks xmlns:a="http://schemas.openxmlformats.org/drawingml/2006/main" noGrp="1"/>
          </p:cNvSpPr>
          <p:nvPr/>
        </p:nvSpPr>
        <p:spPr>
          <a:xfrm xmlns:a="http://schemas.openxmlformats.org/drawingml/2006/main">
            <a:off x="609600" y="46101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6B263E"/>
                </a:solidFill>
                <a:latin typeface="Helvetica Neue"/>
                <a:ea typeface="Helvetica Neue"/>
                <a:cs typeface="Helvetica Neue"/>
              </a:defRPr>
            </a:pPr>
            <a:r>
              <a:rPr sz="2175" b="1">
                <a:solidFill>
                  <a:srgbClr val="6B263E"/>
                </a:solidFill>
                <a:latin typeface="Helvetica Neue"/>
                <a:ea typeface="Helvetica Neue"/>
                <a:cs typeface="Helvetica Neue"/>
              </a:rPr>
              <a:t>Savings</a:t>
            </a:r>
          </a:p>
        </p:txBody>
      </p:sp>
      <p:sp>
        <p:nvSpPr>
          <p:cNvPr id="9" name="">
            <a:extLst xmlns:a="http://schemas.openxmlformats.org/drawingml/2006/main">
              <a:ext uri="{FF2B5EF4-FFF2-40B4-BE49-F238E27FC236}">
                <a16:creationId xmlns:a16="http://schemas.microsoft.com/office/drawing/2014/main" id="{FC8F6385-8A9B-4C5F-A4C4-C290957E3D03}"/>
              </a:ext>
            </a:extLst>
          </p:cNvPr>
          <p:cNvSpPr>
            <a:spLocks xmlns:a="http://schemas.openxmlformats.org/drawingml/2006/main" noGrp="1"/>
          </p:cNvSpPr>
          <p:nvPr/>
        </p:nvSpPr>
        <p:spPr>
          <a:xfrm xmlns:a="http://schemas.openxmlformats.org/drawingml/2006/main">
            <a:off x="609600" y="5029200"/>
            <a:ext cx="245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Keep a goal in view</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aa699d96070436f"/>
          <a:srcRect xmlns:a="http://schemas.openxmlformats.org/drawingml/2006/main" l="0" t="0" r="0" b="0"/>
          <a:stretch xmlns:a="http://schemas.openxmlformats.org/drawingml/2006/main">
            <a:fillRect l="0" t="0" r="0" b="0"/>
          </a:stretch>
        </p:blipFill>
        <p:spPr>
          <a:xfrm xmlns:a="http://schemas.openxmlformats.org/drawingml/2006/main">
            <a:off x="3295650" y="1504950"/>
            <a:ext cx="8286750" cy="4661297"/>
          </a:xfrm>
          <a:prstGeom xmlns:a="http://schemas.openxmlformats.org/drawingml/2006/main" prst="rect">
            <a:avLst/>
          </a:prstGeom>
        </p:spPr>
      </p:pic>
    </p:spTree>
    <p:extLst>
      <p:ext uri="{BB962C8B-B14F-4D97-AF65-F5344CB8AC3E}">
        <p14:creationId xmlns:p14="http://schemas.microsoft.com/office/powerpoint/2010/main" val="1107329109"/>
      </p:ext>
    </p:extLst>
  </p:cSld>
</p:sld>
</file>

<file path=ppt/slides/slide4.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4B53E4-5895-4ACE-BE20-D6A4F5565C6F}"/>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FinBot: a place to ask</a:t>
            </a:r>
          </a:p>
        </p:txBody>
      </p:sp>
      <p:sp>
        <p:nvSpPr>
          <p:cNvPr id="2" name="">
            <a:extLst xmlns:a="http://schemas.openxmlformats.org/drawingml/2006/main">
              <a:ext uri="{FF2B5EF4-FFF2-40B4-BE49-F238E27FC236}">
                <a16:creationId xmlns:a16="http://schemas.microsoft.com/office/drawing/2014/main" id="{BD132811-E0EB-47E6-BE57-04DFBB6A6A72}"/>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F8648A79-2B59-4E60-B5BE-246F66957736}"/>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0602DF9F-D5BA-4135-AFB0-BC909A68575D}"/>
              </a:ext>
            </a:extLst>
          </p:cNvPr>
          <p:cNvSpPr>
            <a:spLocks xmlns:a="http://schemas.openxmlformats.org/drawingml/2006/main" noGrp="1"/>
          </p:cNvSpPr>
          <p:nvPr/>
        </p:nvSpPr>
        <p:spPr>
          <a:xfrm xmlns:a="http://schemas.openxmlformats.org/drawingml/2006/main">
            <a:off x="609600" y="1809750"/>
            <a:ext cx="266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6B263E"/>
                </a:solidFill>
                <a:latin typeface="Helvetica Neue"/>
                <a:ea typeface="Helvetica Neue"/>
                <a:cs typeface="Helvetica Neue"/>
              </a:defRPr>
            </a:pPr>
            <a:r>
              <a:rPr sz="2250" b="1">
                <a:solidFill>
                  <a:srgbClr val="6B263E"/>
                </a:solidFill>
                <a:latin typeface="Helvetica Neue"/>
                <a:ea typeface="Helvetica Neue"/>
                <a:cs typeface="Helvetica Neue"/>
              </a:rPr>
              <a:t>Money questions</a:t>
            </a:r>
          </a:p>
          <a:p xmlns:a="http://schemas.openxmlformats.org/drawingml/2006/main">
            <a:pPr>
              <a:defRPr sz="2250" b="1">
                <a:solidFill>
                  <a:srgbClr val="6B263E"/>
                </a:solidFill>
                <a:latin typeface="Helvetica Neue"/>
                <a:ea typeface="Helvetica Neue"/>
                <a:cs typeface="Helvetica Neue"/>
              </a:defRPr>
            </a:pPr>
            <a:r>
              <a:rPr sz="2250" b="1">
                <a:solidFill>
                  <a:srgbClr val="6B263E"/>
                </a:solidFill>
                <a:latin typeface="Helvetica Neue"/>
                <a:ea typeface="Helvetica Neue"/>
                <a:cs typeface="Helvetica Neue"/>
              </a:rPr>
              <a:t>in plain language</a:t>
            </a:r>
          </a:p>
        </p:txBody>
      </p:sp>
      <p:sp>
        <p:nvSpPr>
          <p:cNvPr id="5" name="">
            <a:extLst xmlns:a="http://schemas.openxmlformats.org/drawingml/2006/main">
              <a:ext uri="{FF2B5EF4-FFF2-40B4-BE49-F238E27FC236}">
                <a16:creationId xmlns:a16="http://schemas.microsoft.com/office/drawing/2014/main" id="{397C4C9A-B3B5-4DFE-B045-0C69AE3929AB}"/>
              </a:ext>
            </a:extLst>
          </p:cNvPr>
          <p:cNvSpPr>
            <a:spLocks xmlns:a="http://schemas.openxmlformats.org/drawingml/2006/main" noGrp="1"/>
          </p:cNvSpPr>
          <p:nvPr/>
        </p:nvSpPr>
        <p:spPr>
          <a:xfrm xmlns:a="http://schemas.openxmlformats.org/drawingml/2006/main">
            <a:off x="609600" y="3086100"/>
            <a:ext cx="25908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Saved conversations</a:t>
            </a:r>
          </a:p>
          <a:p xmlns:a="http://schemas.openxmlformats.org/drawingml/2006/main">
            <a:r>
              <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Chats you can rename</a:t>
            </a:r>
          </a:p>
          <a:p xmlns:a="http://schemas.openxmlformats.org/drawingml/2006/main">
            <a:r>
              <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Room for follow-ups</a:t>
            </a:r>
          </a:p>
        </p:txBody>
      </p:sp>
      <p:sp>
        <p:nvSpPr>
          <p:cNvPr id="6" name="">
            <a:extLst xmlns:a="http://schemas.openxmlformats.org/drawingml/2006/main">
              <a:ext uri="{FF2B5EF4-FFF2-40B4-BE49-F238E27FC236}">
                <a16:creationId xmlns:a16="http://schemas.microsoft.com/office/drawing/2014/main" id="{194AE3F4-6168-4BAC-9927-F2088E7B0054}"/>
              </a:ext>
            </a:extLst>
          </p:cNvPr>
          <p:cNvSpPr>
            <a:spLocks xmlns:a="http://schemas.openxmlformats.org/drawingml/2006/main" noGrp="1"/>
          </p:cNvSpPr>
          <p:nvPr/>
        </p:nvSpPr>
        <p:spPr>
          <a:xfrm xmlns:a="http://schemas.openxmlformats.org/drawingml/2006/main">
            <a:off x="609600" y="5381625"/>
            <a:ext cx="2647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a:solidFill>
                  <a:srgbClr val="61575C"/>
                </a:solidFill>
                <a:latin typeface="Helvetica Neue"/>
                <a:ea typeface="Helvetica Neue"/>
                <a:cs typeface="Helvetica Neue"/>
              </a:defRPr>
            </a:pPr>
            <a:r>
              <a:rPr sz="1650">
                <a:solidFill>
                  <a:srgbClr val="61575C"/>
                </a:solidFill>
                <a:latin typeface="Helvetica Neue"/>
                <a:ea typeface="Helvetica Neue"/>
                <a:cs typeface="Helvetica Neue"/>
              </a:rPr>
              <a:t>Current demo:</a:t>
            </a:r>
          </a:p>
          <a:p xmlns:a="http://schemas.openxmlformats.org/drawingml/2006/main">
            <a:pPr>
              <a:defRPr sz="1650">
                <a:solidFill>
                  <a:srgbClr val="61575C"/>
                </a:solidFill>
                <a:latin typeface="Helvetica Neue"/>
                <a:ea typeface="Helvetica Neue"/>
                <a:cs typeface="Helvetica Neue"/>
              </a:defRPr>
            </a:pPr>
            <a:r>
              <a:rPr sz="1650">
                <a:solidFill>
                  <a:srgbClr val="61575C"/>
                </a:solidFill>
                <a:latin typeface="Helvetica Neue"/>
                <a:ea typeface="Helvetica Neue"/>
                <a:cs typeface="Helvetica Neue"/>
              </a:rPr>
              <a:t>scripted sample replies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a54bb010fb647d9"/>
          <a:srcRect xmlns:a="http://schemas.openxmlformats.org/drawingml/2006/main" l="1572" t="0" r="1572" b="0"/>
          <a:stretch xmlns:a="http://schemas.openxmlformats.org/drawingml/2006/main">
            <a:fillRect l="0" t="0" r="0" b="0"/>
          </a:stretch>
        </p:blipFill>
        <p:spPr>
          <a:xfrm xmlns:a="http://schemas.openxmlformats.org/drawingml/2006/main">
            <a:off x="3562350" y="1466850"/>
            <a:ext cx="8020050" cy="4657725"/>
          </a:xfrm>
          <a:prstGeom xmlns:a="http://schemas.openxmlformats.org/drawingml/2006/main" prst="rect">
            <a:avLst/>
          </a:prstGeom>
        </p:spPr>
      </p:pic>
    </p:spTree>
    <p:extLst>
      <p:ext uri="{BB962C8B-B14F-4D97-AF65-F5344CB8AC3E}">
        <p14:creationId xmlns:p14="http://schemas.microsoft.com/office/powerpoint/2010/main" val="637296763"/>
      </p:ext>
    </p:extLst>
  </p:cSld>
</p:sld>
</file>

<file path=ppt/slides/slide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CFB20B5-56EC-4BF3-855F-6A6DF94B0368}"/>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Comfortable for more students</a:t>
            </a:r>
          </a:p>
        </p:txBody>
      </p:sp>
      <p:sp>
        <p:nvSpPr>
          <p:cNvPr id="2" name="">
            <a:extLst xmlns:a="http://schemas.openxmlformats.org/drawingml/2006/main">
              <a:ext uri="{FF2B5EF4-FFF2-40B4-BE49-F238E27FC236}">
                <a16:creationId xmlns:a16="http://schemas.microsoft.com/office/drawing/2014/main" id="{20750568-8BFF-4E92-86D7-AFF233DB3C07}"/>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1A16953C-4919-4308-9BDC-BD4A72C0C932}"/>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330D2659-0704-4B75-97B1-54ED1B74A81B}"/>
              </a:ext>
            </a:extLst>
          </p:cNvPr>
          <p:cNvSpPr>
            <a:spLocks xmlns:a="http://schemas.openxmlformats.org/drawingml/2006/main" noGrp="1"/>
          </p:cNvSpPr>
          <p:nvPr/>
        </p:nvSpPr>
        <p:spPr>
          <a:xfrm xmlns:a="http://schemas.openxmlformats.org/drawingml/2006/main">
            <a:off x="609600" y="18573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6B263E"/>
                </a:solidFill>
                <a:latin typeface="Helvetica Neue"/>
                <a:ea typeface="Helvetica Neue"/>
                <a:cs typeface="Helvetica Neue"/>
              </a:defRPr>
            </a:pPr>
            <a:r>
              <a:rPr sz="2550" b="1">
                <a:solidFill>
                  <a:srgbClr val="6B263E"/>
                </a:solidFill>
                <a:latin typeface="Helvetica Neue"/>
                <a:ea typeface="Helvetica Neue"/>
                <a:cs typeface="Helvetica Neue"/>
              </a:rPr>
              <a:t>Adjustable text size</a:t>
            </a:r>
          </a:p>
        </p:txBody>
      </p:sp>
      <p:sp>
        <p:nvSpPr>
          <p:cNvPr id="5" name="">
            <a:extLst xmlns:a="http://schemas.openxmlformats.org/drawingml/2006/main">
              <a:ext uri="{FF2B5EF4-FFF2-40B4-BE49-F238E27FC236}">
                <a16:creationId xmlns:a16="http://schemas.microsoft.com/office/drawing/2014/main" id="{B9005168-388A-49A8-8D93-085C5D8547D6}"/>
              </a:ext>
            </a:extLst>
          </p:cNvPr>
          <p:cNvSpPr>
            <a:spLocks xmlns:a="http://schemas.openxmlformats.org/drawingml/2006/main" noGrp="1"/>
          </p:cNvSpPr>
          <p:nvPr/>
        </p:nvSpPr>
        <p:spPr>
          <a:xfrm xmlns:a="http://schemas.openxmlformats.org/drawingml/2006/main">
            <a:off x="609600" y="268605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82226"/>
                </a:solidFill>
                <a:latin typeface="Helvetica Neue"/>
                <a:ea typeface="Helvetica Neue"/>
                <a:cs typeface="Helvetica Neue"/>
              </a:defRPr>
            </a:pPr>
            <a:r>
              <a:rPr sz="2325">
                <a:solidFill>
                  <a:srgbClr val="282226"/>
                </a:solidFill>
                <a:latin typeface="Helvetica Neue"/>
                <a:ea typeface="Helvetica Neue"/>
                <a:cs typeface="Helvetica Neue"/>
              </a:rPr>
              <a:t>Color choices and reduced motion</a:t>
            </a:r>
          </a:p>
        </p:txBody>
      </p:sp>
      <p:sp>
        <p:nvSpPr>
          <p:cNvPr id="6" name="">
            <a:extLst xmlns:a="http://schemas.openxmlformats.org/drawingml/2006/main">
              <a:ext uri="{FF2B5EF4-FFF2-40B4-BE49-F238E27FC236}">
                <a16:creationId xmlns:a16="http://schemas.microsoft.com/office/drawing/2014/main" id="{ADCF994A-9EB4-4172-8DD7-D9F2B65BE3F2}"/>
              </a:ext>
            </a:extLst>
          </p:cNvPr>
          <p:cNvSpPr>
            <a:spLocks xmlns:a="http://schemas.openxmlformats.org/drawingml/2006/main" noGrp="1"/>
          </p:cNvSpPr>
          <p:nvPr/>
        </p:nvSpPr>
        <p:spPr>
          <a:xfrm xmlns:a="http://schemas.openxmlformats.org/drawingml/2006/main">
            <a:off x="609600" y="351472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82226"/>
                </a:solidFill>
                <a:latin typeface="Helvetica Neue"/>
                <a:ea typeface="Helvetica Neue"/>
                <a:cs typeface="Helvetica Neue"/>
              </a:defRPr>
            </a:pPr>
            <a:r>
              <a:rPr sz="2325">
                <a:solidFill>
                  <a:srgbClr val="282226"/>
                </a:solidFill>
                <a:latin typeface="Helvetica Neue"/>
                <a:ea typeface="Helvetica Neue"/>
                <a:cs typeface="Helvetica Neue"/>
              </a:rPr>
              <a:t>Read-aloud controls</a:t>
            </a:r>
          </a:p>
        </p:txBody>
      </p:sp>
      <p:sp>
        <p:nvSpPr>
          <p:cNvPr id="7" name="">
            <a:extLst xmlns:a="http://schemas.openxmlformats.org/drawingml/2006/main">
              <a:ext uri="{FF2B5EF4-FFF2-40B4-BE49-F238E27FC236}">
                <a16:creationId xmlns:a16="http://schemas.microsoft.com/office/drawing/2014/main" id="{6B8284F1-5A6E-46FA-876C-D4B54C204649}"/>
              </a:ext>
            </a:extLst>
          </p:cNvPr>
          <p:cNvSpPr>
            <a:spLocks xmlns:a="http://schemas.openxmlformats.org/drawingml/2006/main" noGrp="1"/>
          </p:cNvSpPr>
          <p:nvPr/>
        </p:nvSpPr>
        <p:spPr>
          <a:xfrm xmlns:a="http://schemas.openxmlformats.org/drawingml/2006/main">
            <a:off x="609600" y="434340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a:solidFill>
                  <a:srgbClr val="282226"/>
                </a:solidFill>
                <a:latin typeface="Helvetica Neue"/>
                <a:ea typeface="Helvetica Neue"/>
                <a:cs typeface="Helvetica Neue"/>
              </a:defRPr>
            </a:pPr>
            <a:r>
              <a:rPr sz="2325">
                <a:solidFill>
                  <a:srgbClr val="282226"/>
                </a:solidFill>
                <a:latin typeface="Helvetica Neue"/>
                <a:ea typeface="Helvetica Neue"/>
                <a:cs typeface="Helvetica Neue"/>
              </a:rPr>
              <a:t>Ten interface languages</a:t>
            </a:r>
          </a:p>
        </p:txBody>
      </p:sp>
      <p:sp>
        <p:nvSpPr>
          <p:cNvPr id="8" name="">
            <a:extLst xmlns:a="http://schemas.openxmlformats.org/drawingml/2006/main">
              <a:ext uri="{FF2B5EF4-FFF2-40B4-BE49-F238E27FC236}">
                <a16:creationId xmlns:a16="http://schemas.microsoft.com/office/drawing/2014/main" id="{64B2FF3D-EFD8-41AF-B53B-1BA3DA27787E}"/>
              </a:ext>
            </a:extLst>
          </p:cNvPr>
          <p:cNvSpPr>
            <a:spLocks xmlns:a="http://schemas.openxmlformats.org/drawingml/2006/main" noGrp="1"/>
          </p:cNvSpPr>
          <p:nvPr/>
        </p:nvSpPr>
        <p:spPr>
          <a:xfrm xmlns:a="http://schemas.openxmlformats.org/drawingml/2006/main">
            <a:off x="609600" y="538162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a:solidFill>
                  <a:srgbClr val="61575C"/>
                </a:solidFill>
                <a:latin typeface="Helvetica Neue"/>
                <a:ea typeface="Helvetica Neue"/>
                <a:cs typeface="Helvetica Neue"/>
              </a:defRPr>
            </a:pPr>
            <a:r>
              <a:rPr sz="1950">
                <a:solidFill>
                  <a:srgbClr val="61575C"/>
                </a:solidFill>
                <a:latin typeface="Helvetica Neue"/>
                <a:ea typeface="Helvetica Neue"/>
                <a:cs typeface="Helvetica Neue"/>
              </a:rPr>
              <a:t>Available across the dashboard and dining planner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220fb5ca9ad4568"/>
          <a:srcRect xmlns:a="http://schemas.openxmlformats.org/drawingml/2006/main" l="0" t="32" r="0" b="32"/>
          <a:stretch xmlns:a="http://schemas.openxmlformats.org/drawingml/2006/main">
            <a:fillRect l="0" t="0" r="0" b="0"/>
          </a:stretch>
        </p:blipFill>
        <p:spPr>
          <a:xfrm xmlns:a="http://schemas.openxmlformats.org/drawingml/2006/main">
            <a:off x="8096250" y="1266825"/>
            <a:ext cx="3000375" cy="4800600"/>
          </a:xfrm>
          <a:prstGeom xmlns:a="http://schemas.openxmlformats.org/drawingml/2006/main" prst="rect">
            <a:avLst/>
          </a:prstGeom>
        </p:spPr>
      </p:pic>
    </p:spTree>
    <p:extLst>
      <p:ext uri="{BB962C8B-B14F-4D97-AF65-F5344CB8AC3E}">
        <p14:creationId xmlns:p14="http://schemas.microsoft.com/office/powerpoint/2010/main" val="1028702900"/>
      </p:ext>
    </p:extLst>
  </p:cSld>
</p:sld>
</file>

<file path=ppt/slides/slide6.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506BBD-DF30-48B6-9AF1-955A2509A97F}"/>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A dining plan for your week</a:t>
            </a:r>
          </a:p>
        </p:txBody>
      </p:sp>
      <p:sp>
        <p:nvSpPr>
          <p:cNvPr id="2" name="">
            <a:extLst xmlns:a="http://schemas.openxmlformats.org/drawingml/2006/main">
              <a:ext uri="{FF2B5EF4-FFF2-40B4-BE49-F238E27FC236}">
                <a16:creationId xmlns:a16="http://schemas.microsoft.com/office/drawing/2014/main" id="{4764B6C3-2BCA-43B1-8809-A9C28A298E94}"/>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8DAA61FF-99F6-4064-81ED-301D5FB52D14}"/>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C2537C53-41AA-4305-A659-06257DF3875B}"/>
              </a:ext>
            </a:extLst>
          </p:cNvPr>
          <p:cNvSpPr>
            <a:spLocks xmlns:a="http://schemas.openxmlformats.org/drawingml/2006/main" noGrp="1"/>
          </p:cNvSpPr>
          <p:nvPr/>
        </p:nvSpPr>
        <p:spPr>
          <a:xfrm xmlns:a="http://schemas.openxmlformats.org/drawingml/2006/main">
            <a:off x="609600" y="1714500"/>
            <a:ext cx="2533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6B263E"/>
                </a:solidFill>
                <a:latin typeface="Helvetica Neue"/>
                <a:ea typeface="Helvetica Neue"/>
                <a:cs typeface="Helvetica Neue"/>
              </a:defRPr>
            </a:pPr>
            <a:r>
              <a:rPr sz="2175" b="1">
                <a:solidFill>
                  <a:srgbClr val="6B263E"/>
                </a:solidFill>
                <a:latin typeface="Helvetica Neue"/>
                <a:ea typeface="Helvetica Neue"/>
                <a:cs typeface="Helvetica Neue"/>
              </a:rPr>
              <a:t>Your inputs</a:t>
            </a:r>
          </a:p>
        </p:txBody>
      </p:sp>
      <p:sp>
        <p:nvSpPr>
          <p:cNvPr id="5" name="">
            <a:extLst xmlns:a="http://schemas.openxmlformats.org/drawingml/2006/main">
              <a:ext uri="{FF2B5EF4-FFF2-40B4-BE49-F238E27FC236}">
                <a16:creationId xmlns:a16="http://schemas.microsoft.com/office/drawing/2014/main" id="{12463144-0BB9-447D-9A62-9E0E8A7A12DC}"/>
              </a:ext>
            </a:extLst>
          </p:cNvPr>
          <p:cNvSpPr>
            <a:spLocks xmlns:a="http://schemas.openxmlformats.org/drawingml/2006/main" noGrp="1"/>
          </p:cNvSpPr>
          <p:nvPr/>
        </p:nvSpPr>
        <p:spPr>
          <a:xfrm xmlns:a="http://schemas.openxmlformats.org/drawingml/2006/main">
            <a:off x="609600" y="2190750"/>
            <a:ext cx="2667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Meal plan and balance</a:t>
            </a:r>
          </a:p>
          <a:p xmlns:a="http://schemas.openxmlformats.org/drawingml/2006/main">
            <a:r>
              <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Weeks left</a:t>
            </a:r>
          </a:p>
          <a:p xmlns:a="http://schemas.openxmlformats.org/drawingml/2006/main">
            <a:r>
              <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Preferences and schedule</a:t>
            </a:r>
          </a:p>
        </p:txBody>
      </p:sp>
      <p:sp>
        <p:nvSpPr>
          <p:cNvPr id="6" name="">
            <a:extLst xmlns:a="http://schemas.openxmlformats.org/drawingml/2006/main">
              <a:ext uri="{FF2B5EF4-FFF2-40B4-BE49-F238E27FC236}">
                <a16:creationId xmlns:a16="http://schemas.microsoft.com/office/drawing/2014/main" id="{F2FDCA66-2576-4DE4-97F2-F93F1895F6CC}"/>
              </a:ext>
            </a:extLst>
          </p:cNvPr>
          <p:cNvSpPr>
            <a:spLocks xmlns:a="http://schemas.openxmlformats.org/drawingml/2006/main" noGrp="1"/>
          </p:cNvSpPr>
          <p:nvPr/>
        </p:nvSpPr>
        <p:spPr>
          <a:xfrm xmlns:a="http://schemas.openxmlformats.org/drawingml/2006/main">
            <a:off x="609600" y="4743450"/>
            <a:ext cx="2533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6B263E"/>
                </a:solidFill>
                <a:latin typeface="Helvetica Neue"/>
                <a:ea typeface="Helvetica Neue"/>
                <a:cs typeface="Helvetica Neue"/>
              </a:defRPr>
            </a:pPr>
            <a:r>
              <a:rPr sz="2175" b="1">
                <a:solidFill>
                  <a:srgbClr val="6B263E"/>
                </a:solidFill>
                <a:latin typeface="Helvetica Neue"/>
                <a:ea typeface="Helvetica Neue"/>
                <a:cs typeface="Helvetica Neue"/>
              </a:rPr>
              <a:t>The result</a:t>
            </a:r>
          </a:p>
        </p:txBody>
      </p:sp>
      <p:sp>
        <p:nvSpPr>
          <p:cNvPr id="7" name="">
            <a:extLst xmlns:a="http://schemas.openxmlformats.org/drawingml/2006/main">
              <a:ext uri="{FF2B5EF4-FFF2-40B4-BE49-F238E27FC236}">
                <a16:creationId xmlns:a16="http://schemas.microsoft.com/office/drawing/2014/main" id="{7FA2846C-D0C2-428C-AA20-3115A9BF73C7}"/>
              </a:ext>
            </a:extLst>
          </p:cNvPr>
          <p:cNvSpPr>
            <a:spLocks xmlns:a="http://schemas.openxmlformats.org/drawingml/2006/main" noGrp="1"/>
          </p:cNvSpPr>
          <p:nvPr/>
        </p:nvSpPr>
        <p:spPr>
          <a:xfrm xmlns:a="http://schemas.openxmlformats.org/drawingml/2006/main">
            <a:off x="609600" y="5210175"/>
            <a:ext cx="2686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A weekly meal calendar</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with estimated costs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061afd54fb44e4c"/>
          <a:srcRect xmlns:a="http://schemas.openxmlformats.org/drawingml/2006/main" l="1431" t="0" r="1431" b="0"/>
          <a:stretch xmlns:a="http://schemas.openxmlformats.org/drawingml/2006/main">
            <a:fillRect l="0" t="0" r="0" b="0"/>
          </a:stretch>
        </p:blipFill>
        <p:spPr>
          <a:xfrm xmlns:a="http://schemas.openxmlformats.org/drawingml/2006/main">
            <a:off x="3571875" y="1485900"/>
            <a:ext cx="8010525" cy="4638675"/>
          </a:xfrm>
          <a:prstGeom xmlns:a="http://schemas.openxmlformats.org/drawingml/2006/main" prst="rect">
            <a:avLst/>
          </a:prstGeom>
        </p:spPr>
      </p:pic>
    </p:spTree>
    <p:extLst>
      <p:ext uri="{BB962C8B-B14F-4D97-AF65-F5344CB8AC3E}">
        <p14:creationId xmlns:p14="http://schemas.microsoft.com/office/powerpoint/2010/main" val="342902809"/>
      </p:ext>
    </p:extLst>
  </p:cSld>
</p:sld>
</file>

<file path=ppt/slides/slide7.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45C0AB-4B0E-4387-BB8B-E5756E946BA0}"/>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How the backend connects</a:t>
            </a:r>
          </a:p>
        </p:txBody>
      </p:sp>
      <p:sp>
        <p:nvSpPr>
          <p:cNvPr id="2" name="">
            <a:extLst xmlns:a="http://schemas.openxmlformats.org/drawingml/2006/main">
              <a:ext uri="{FF2B5EF4-FFF2-40B4-BE49-F238E27FC236}">
                <a16:creationId xmlns:a16="http://schemas.microsoft.com/office/drawing/2014/main" id="{F39A3F1F-6ED5-4521-A3B2-E7ECBCD67F9F}"/>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AF36B4D1-2F73-4DB7-A4FF-5D6E80FF4319}"/>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251235E6-6859-494C-AB05-AA3405011831}"/>
              </a:ext>
            </a:extLst>
          </p:cNvPr>
          <p:cNvSpPr>
            <a:spLocks xmlns:a="http://schemas.openxmlformats.org/drawingml/2006/main" noGrp="1"/>
          </p:cNvSpPr>
          <p:nvPr/>
        </p:nvSpPr>
        <p:spPr>
          <a:xfrm xmlns:a="http://schemas.openxmlformats.org/drawingml/2006/main">
            <a:off x="609600" y="164782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6B263E"/>
                </a:solidFill>
                <a:latin typeface="Helvetica Neue"/>
                <a:ea typeface="Helvetica Neue"/>
                <a:cs typeface="Helvetica Neue"/>
              </a:defRPr>
            </a:pPr>
            <a:r>
              <a:rPr sz="2250" b="1">
                <a:solidFill>
                  <a:srgbClr val="6B263E"/>
                </a:solidFill>
                <a:latin typeface="Helvetica Neue"/>
                <a:ea typeface="Helvetica Neue"/>
                <a:cs typeface="Helvetica Neue"/>
              </a:rPr>
              <a:t>Inputs</a:t>
            </a:r>
          </a:p>
        </p:txBody>
      </p:sp>
      <p:sp>
        <p:nvSpPr>
          <p:cNvPr id="5" name="">
            <a:extLst xmlns:a="http://schemas.openxmlformats.org/drawingml/2006/main">
              <a:ext uri="{FF2B5EF4-FFF2-40B4-BE49-F238E27FC236}">
                <a16:creationId xmlns:a16="http://schemas.microsoft.com/office/drawing/2014/main" id="{0DE7A7A7-A528-4D39-87E8-5735FFED7843}"/>
              </a:ext>
            </a:extLst>
          </p:cNvPr>
          <p:cNvSpPr>
            <a:spLocks xmlns:a="http://schemas.openxmlformats.org/drawingml/2006/main" noGrp="1"/>
          </p:cNvSpPr>
          <p:nvPr/>
        </p:nvSpPr>
        <p:spPr>
          <a:xfrm xmlns:a="http://schemas.openxmlformats.org/drawingml/2006/main">
            <a:off x="609600" y="2257425"/>
            <a:ext cx="29051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Nessie banking sandbox</a:t>
            </a:r>
          </a:p>
          <a:p xmlns:a="http://schemas.openxmlformats.org/drawingml/2006/main">
            <a:r>
              <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Student-entered</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campus balances</a:t>
            </a:r>
          </a:p>
          <a:p xmlns:a="http://schemas.openxmlformats.org/drawingml/2006/main">
            <a:r>
              <a:t/>
            </a:r>
          </a:p>
          <a:p xmlns:a="http://schemas.openxmlformats.org/drawingml/2006/main">
            <a:pPr>
              <a:defRPr sz="1950">
                <a:solidFill>
                  <a:srgbClr val="282226"/>
                </a:solidFill>
                <a:latin typeface="Helvetica Neue"/>
                <a:ea typeface="Helvetica Neue"/>
                <a:cs typeface="Helvetica Neue"/>
              </a:defRPr>
            </a:pPr>
            <a:r>
              <a:rPr sz="1950">
                <a:solidFill>
                  <a:srgbClr val="282226"/>
                </a:solidFill>
                <a:latin typeface="Helvetica Neue"/>
                <a:ea typeface="Helvetica Neue"/>
                <a:cs typeface="Helvetica Neue"/>
              </a:rPr>
              <a:t>Saved financial plan</a:t>
            </a:r>
          </a:p>
        </p:txBody>
      </p:sp>
      <p:sp>
        <p:nvSpPr>
          <p:cNvPr id="6" name="">
            <a:extLst xmlns:a="http://schemas.openxmlformats.org/drawingml/2006/main">
              <a:ext uri="{FF2B5EF4-FFF2-40B4-BE49-F238E27FC236}">
                <a16:creationId xmlns:a16="http://schemas.microsoft.com/office/drawing/2014/main" id="{3F89987E-3266-4A93-BFE6-B664828D95CE}"/>
              </a:ext>
            </a:extLst>
          </p:cNvPr>
          <p:cNvSpPr>
            <a:spLocks xmlns:a="http://schemas.openxmlformats.org/drawingml/2006/main" noGrp="1"/>
          </p:cNvSpPr>
          <p:nvPr/>
        </p:nvSpPr>
        <p:spPr>
          <a:xfrm xmlns:a="http://schemas.openxmlformats.org/drawingml/2006/main">
            <a:off x="4543425" y="2143125"/>
            <a:ext cx="2619375" cy="2219325"/>
          </a:xfrm>
          <a:prstGeom xmlns:a="http://schemas.openxmlformats.org/drawingml/2006/main" prst="rect">
            <a:avLst/>
          </a:prstGeom>
          <a:solidFill xmlns:a="http://schemas.openxmlformats.org/drawingml/2006/main">
            <a:srgbClr val="FAF7F2"/>
          </a:solidFill>
          <a:ln xmlns:a="http://schemas.openxmlformats.org/drawingml/2006/main" w="14288">
            <a:solidFill>
              <a:srgbClr val="D8CBCD"/>
            </a:solidFill>
          </a:ln>
        </p:spPr>
      </p:sp>
      <p:sp>
        <p:nvSpPr>
          <p:cNvPr id="7" name="">
            <a:extLst xmlns:a="http://schemas.openxmlformats.org/drawingml/2006/main">
              <a:ext uri="{FF2B5EF4-FFF2-40B4-BE49-F238E27FC236}">
                <a16:creationId xmlns:a16="http://schemas.microsoft.com/office/drawing/2014/main" id="{562977EF-8162-45AC-8E8C-698E298153D4}"/>
              </a:ext>
            </a:extLst>
          </p:cNvPr>
          <p:cNvSpPr>
            <a:spLocks xmlns:a="http://schemas.openxmlformats.org/drawingml/2006/main" noGrp="1"/>
          </p:cNvSpPr>
          <p:nvPr/>
        </p:nvSpPr>
        <p:spPr>
          <a:xfrm xmlns:a="http://schemas.openxmlformats.org/drawingml/2006/main">
            <a:off x="4772025" y="2476500"/>
            <a:ext cx="2162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325" b="1">
                <a:solidFill>
                  <a:srgbClr val="6B263E"/>
                </a:solidFill>
                <a:latin typeface="Helvetica Neue"/>
                <a:ea typeface="Helvetica Neue"/>
                <a:cs typeface="Helvetica Neue"/>
              </a:defRPr>
            </a:pPr>
            <a:r>
              <a:rPr sz="2325" b="1">
                <a:solidFill>
                  <a:srgbClr val="6B263E"/>
                </a:solidFill>
                <a:latin typeface="Helvetica Neue"/>
                <a:ea typeface="Helvetica Neue"/>
                <a:cs typeface="Helvetica Neue"/>
              </a:rPr>
              <a:t>Backend API</a:t>
            </a:r>
          </a:p>
        </p:txBody>
      </p:sp>
      <p:sp>
        <p:nvSpPr>
          <p:cNvPr id="8" name="">
            <a:extLst xmlns:a="http://schemas.openxmlformats.org/drawingml/2006/main">
              <a:ext uri="{FF2B5EF4-FFF2-40B4-BE49-F238E27FC236}">
                <a16:creationId xmlns:a16="http://schemas.microsoft.com/office/drawing/2014/main" id="{DE1A093A-C3EA-4F6D-A705-674CDA7D66BC}"/>
              </a:ext>
            </a:extLst>
          </p:cNvPr>
          <p:cNvSpPr>
            <a:spLocks xmlns:a="http://schemas.openxmlformats.org/drawingml/2006/main" noGrp="1"/>
          </p:cNvSpPr>
          <p:nvPr/>
        </p:nvSpPr>
        <p:spPr>
          <a:xfrm xmlns:a="http://schemas.openxmlformats.org/drawingml/2006/main">
            <a:off x="4772025" y="3095625"/>
            <a:ext cx="2162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a:solidFill>
                  <a:srgbClr val="282226"/>
                </a:solidFill>
                <a:latin typeface="Helvetica Neue"/>
                <a:ea typeface="Helvetica Neue"/>
                <a:cs typeface="Helvetica Neue"/>
              </a:defRPr>
            </a:pPr>
            <a:r>
              <a:rPr sz="1800">
                <a:solidFill>
                  <a:srgbClr val="282226"/>
                </a:solidFill>
                <a:latin typeface="Helvetica Neue"/>
                <a:ea typeface="Helvetica Neue"/>
                <a:cs typeface="Helvetica Neue"/>
              </a:rPr>
              <a:t>Plans and projections</a:t>
            </a:r>
          </a:p>
          <a:p xmlns:a="http://schemas.openxmlformats.org/drawingml/2006/main">
            <a:r>
              <a:t/>
            </a:r>
          </a:p>
          <a:p xmlns:a="http://schemas.openxmlformats.org/drawingml/2006/main">
            <a:pPr algn="ctr">
              <a:defRPr sz="1800">
                <a:solidFill>
                  <a:srgbClr val="282226"/>
                </a:solidFill>
                <a:latin typeface="Helvetica Neue"/>
                <a:ea typeface="Helvetica Neue"/>
                <a:cs typeface="Helvetica Neue"/>
              </a:defRPr>
            </a:pPr>
            <a:r>
              <a:rPr sz="1800">
                <a:solidFill>
                  <a:srgbClr val="282226"/>
                </a:solidFill>
                <a:latin typeface="Helvetica Neue"/>
                <a:ea typeface="Helvetica Neue"/>
                <a:cs typeface="Helvetica Neue"/>
              </a:rPr>
              <a:t>Supabase storage</a:t>
            </a:r>
          </a:p>
        </p:txBody>
      </p:sp>
      <p:sp>
        <p:nvSpPr>
          <p:cNvPr id="9" name="">
            <a:extLst xmlns:a="http://schemas.openxmlformats.org/drawingml/2006/main">
              <a:ext uri="{FF2B5EF4-FFF2-40B4-BE49-F238E27FC236}">
                <a16:creationId xmlns:a16="http://schemas.microsoft.com/office/drawing/2014/main" id="{5BD17242-3C61-4FBA-A499-95119B5D9B83}"/>
              </a:ext>
            </a:extLst>
          </p:cNvPr>
          <p:cNvSpPr>
            <a:spLocks xmlns:a="http://schemas.openxmlformats.org/drawingml/2006/main" noGrp="1"/>
          </p:cNvSpPr>
          <p:nvPr/>
        </p:nvSpPr>
        <p:spPr>
          <a:xfrm xmlns:a="http://schemas.openxmlformats.org/drawingml/2006/main">
            <a:off x="8839200" y="23241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6B263E"/>
                </a:solidFill>
                <a:latin typeface="Helvetica Neue"/>
                <a:ea typeface="Helvetica Neue"/>
                <a:cs typeface="Helvetica Neue"/>
              </a:defRPr>
            </a:pPr>
            <a:r>
              <a:rPr sz="2475" b="1">
                <a:solidFill>
                  <a:srgbClr val="6B263E"/>
                </a:solidFill>
                <a:latin typeface="Helvetica Neue"/>
                <a:ea typeface="Helvetica Neue"/>
                <a:cs typeface="Helvetica Neue"/>
              </a:rPr>
              <a:t>Dashboard</a:t>
            </a:r>
          </a:p>
        </p:txBody>
      </p:sp>
      <p:sp>
        <p:nvSpPr>
          <p:cNvPr id="10" name="">
            <a:extLst xmlns:a="http://schemas.openxmlformats.org/drawingml/2006/main">
              <a:ext uri="{FF2B5EF4-FFF2-40B4-BE49-F238E27FC236}">
                <a16:creationId xmlns:a16="http://schemas.microsoft.com/office/drawing/2014/main" id="{B93E208C-93C1-43DB-8E85-DFDDB35591B1}"/>
              </a:ext>
            </a:extLst>
          </p:cNvPr>
          <p:cNvSpPr>
            <a:spLocks xmlns:a="http://schemas.openxmlformats.org/drawingml/2006/main" noGrp="1"/>
          </p:cNvSpPr>
          <p:nvPr/>
        </p:nvSpPr>
        <p:spPr>
          <a:xfrm xmlns:a="http://schemas.openxmlformats.org/drawingml/2006/main">
            <a:off x="8839200" y="2924175"/>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a:solidFill>
                  <a:srgbClr val="282226"/>
                </a:solidFill>
                <a:latin typeface="Helvetica Neue"/>
                <a:ea typeface="Helvetica Neue"/>
                <a:cs typeface="Helvetica Neue"/>
              </a:defRPr>
            </a:pPr>
            <a:r>
              <a:rPr sz="2100">
                <a:solidFill>
                  <a:srgbClr val="282226"/>
                </a:solidFill>
                <a:latin typeface="Helvetica Neue"/>
                <a:ea typeface="Helvetica Neue"/>
                <a:cs typeface="Helvetica Neue"/>
              </a:rPr>
              <a:t>Authenticated</a:t>
            </a:r>
          </a:p>
          <a:p xmlns:a="http://schemas.openxmlformats.org/drawingml/2006/main">
            <a:pPr>
              <a:defRPr sz="2100">
                <a:solidFill>
                  <a:srgbClr val="282226"/>
                </a:solidFill>
                <a:latin typeface="Helvetica Neue"/>
                <a:ea typeface="Helvetica Neue"/>
                <a:cs typeface="Helvetica Neue"/>
              </a:defRPr>
            </a:pPr>
            <a:r>
              <a:rPr sz="2100">
                <a:solidFill>
                  <a:srgbClr val="282226"/>
                </a:solidFill>
                <a:latin typeface="Helvetica Neue"/>
                <a:ea typeface="Helvetica Neue"/>
                <a:cs typeface="Helvetica Neue"/>
              </a:rPr>
              <a:t>requests</a:t>
            </a:r>
          </a:p>
        </p:txBody>
      </p:sp>
      <p:sp>
        <p:nvSpPr>
          <p:cNvPr id="11" name="">
            <a:extLst xmlns:a="http://schemas.openxmlformats.org/drawingml/2006/main">
              <a:ext uri="{FF2B5EF4-FFF2-40B4-BE49-F238E27FC236}">
                <a16:creationId xmlns:a16="http://schemas.microsoft.com/office/drawing/2014/main" id="{2EA8FD8C-EFC5-4DE7-94AA-EAC78FFA2419}"/>
              </a:ext>
            </a:extLst>
          </p:cNvPr>
          <p:cNvSpPr>
            <a:spLocks xmlns:a="http://schemas.openxmlformats.org/drawingml/2006/main" noGrp="1"/>
          </p:cNvSpPr>
          <p:nvPr/>
        </p:nvSpPr>
        <p:spPr>
          <a:xfrm xmlns:a="http://schemas.openxmlformats.org/drawingml/2006/main">
            <a:off x="3524250" y="3162300"/>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1A9D3A-D962-4F04-8A6A-59B60E3C740E}"/>
              </a:ext>
            </a:extLst>
          </p:cNvPr>
          <p:cNvSpPr>
            <a:spLocks xmlns:a="http://schemas.openxmlformats.org/drawingml/2006/main" noGrp="1"/>
          </p:cNvSpPr>
          <p:nvPr/>
        </p:nvSpPr>
        <p:spPr>
          <a:xfrm xmlns:a="http://schemas.openxmlformats.org/drawingml/2006/main">
            <a:off x="4410075" y="31623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1" name=""/>
          <p:cNvCxnSpPr>
            <a:stCxn xmlns:a="http://schemas.openxmlformats.org/drawingml/2006/main" id="11" idx="3"/>
            <a:endCxn xmlns:a="http://schemas.openxmlformats.org/drawingml/2006/main" id="12" idx="1"/>
          </p:cNvCxnSpPr>
          <p:nvPr/>
        </p:nvCxnSpPr>
        <p:spPr>
          <a:xfrm xmlns:a="http://schemas.openxmlformats.org/drawingml/2006/main">
            <a:off x="3533775" y="3167063"/>
            <a:ext cx="876300" cy="0"/>
          </a:xfrm>
          <a:prstGeom xmlns:a="http://schemas.openxmlformats.org/drawingml/2006/main" prst="straightConnector1">
            <a:avLst/>
          </a:prstGeom>
          <a:ln xmlns:a="http://schemas.openxmlformats.org/drawingml/2006/main" w="19050">
            <a:solidFill>
              <a:srgbClr val="6B263E"/>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9182C08B-1D54-4D41-943C-E6B5428AEF0E}"/>
              </a:ext>
            </a:extLst>
          </p:cNvPr>
          <p:cNvSpPr>
            <a:spLocks xmlns:a="http://schemas.openxmlformats.org/drawingml/2006/main" noGrp="1"/>
          </p:cNvSpPr>
          <p:nvPr/>
        </p:nvSpPr>
        <p:spPr>
          <a:xfrm xmlns:a="http://schemas.openxmlformats.org/drawingml/2006/main">
            <a:off x="7315200" y="3162300"/>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05574F0-217C-4CD2-9E43-155451108540}"/>
              </a:ext>
            </a:extLst>
          </p:cNvPr>
          <p:cNvSpPr>
            <a:spLocks xmlns:a="http://schemas.openxmlformats.org/drawingml/2006/main" noGrp="1"/>
          </p:cNvSpPr>
          <p:nvPr/>
        </p:nvSpPr>
        <p:spPr>
          <a:xfrm xmlns:a="http://schemas.openxmlformats.org/drawingml/2006/main">
            <a:off x="8648700" y="31623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4" name=""/>
          <p:cNvCxnSpPr>
            <a:stCxn xmlns:a="http://schemas.openxmlformats.org/drawingml/2006/main" id="14" idx="3"/>
            <a:endCxn xmlns:a="http://schemas.openxmlformats.org/drawingml/2006/main" id="15" idx="1"/>
          </p:cNvCxnSpPr>
          <p:nvPr/>
        </p:nvCxnSpPr>
        <p:spPr>
          <a:xfrm xmlns:a="http://schemas.openxmlformats.org/drawingml/2006/main">
            <a:off x="7324725" y="3167063"/>
            <a:ext cx="1323975" cy="0"/>
          </a:xfrm>
          <a:prstGeom xmlns:a="http://schemas.openxmlformats.org/drawingml/2006/main" prst="straightConnector1">
            <a:avLst/>
          </a:prstGeom>
          <a:ln xmlns:a="http://schemas.openxmlformats.org/drawingml/2006/main" w="19050">
            <a:solidFill>
              <a:srgbClr val="6B263E"/>
            </a:solidFill>
            <a:prstDash val="dash"/>
            <a:tailEnd type="triangle" w="med" len="med"/>
          </a:ln>
        </p:spPr>
      </p:cxnSp>
      <p:sp>
        <p:nvSpPr>
          <p:cNvPr id="17" name="">
            <a:extLst xmlns:a="http://schemas.openxmlformats.org/drawingml/2006/main">
              <a:ext uri="{FF2B5EF4-FFF2-40B4-BE49-F238E27FC236}">
                <a16:creationId xmlns:a16="http://schemas.microsoft.com/office/drawing/2014/main" id="{C45039EB-95FA-43C0-B08C-7F7819E573CE}"/>
              </a:ext>
            </a:extLst>
          </p:cNvPr>
          <p:cNvSpPr>
            <a:spLocks xmlns:a="http://schemas.openxmlformats.org/drawingml/2006/main" noGrp="1"/>
          </p:cNvSpPr>
          <p:nvPr/>
        </p:nvSpPr>
        <p:spPr>
          <a:xfrm xmlns:a="http://schemas.openxmlformats.org/drawingml/2006/main">
            <a:off x="7410450" y="3695700"/>
            <a:ext cx="12477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a:solidFill>
                  <a:srgbClr val="61575C"/>
                </a:solidFill>
                <a:latin typeface="Helvetica Neue"/>
                <a:ea typeface="Helvetica Neue"/>
                <a:cs typeface="Helvetica Neue"/>
              </a:defRPr>
            </a:pPr>
            <a:r>
              <a:rPr sz="1500">
                <a:solidFill>
                  <a:srgbClr val="61575C"/>
                </a:solidFill>
                <a:latin typeface="Helvetica Neue"/>
                <a:ea typeface="Helvetica Neue"/>
                <a:cs typeface="Helvetica Neue"/>
              </a:rPr>
              <a:t>Connection</a:t>
            </a:r>
          </a:p>
          <a:p xmlns:a="http://schemas.openxmlformats.org/drawingml/2006/main">
            <a:pPr algn="ctr">
              <a:defRPr sz="1500">
                <a:solidFill>
                  <a:srgbClr val="61575C"/>
                </a:solidFill>
                <a:latin typeface="Helvetica Neue"/>
                <a:ea typeface="Helvetica Neue"/>
                <a:cs typeface="Helvetica Neue"/>
              </a:defRPr>
            </a:pPr>
            <a:r>
              <a:rPr sz="1500">
                <a:solidFill>
                  <a:srgbClr val="61575C"/>
                </a:solidFill>
                <a:latin typeface="Helvetica Neue"/>
                <a:ea typeface="Helvetica Neue"/>
                <a:cs typeface="Helvetica Neue"/>
              </a:rPr>
              <a:t>in progress</a:t>
            </a:r>
          </a:p>
        </p:txBody>
      </p:sp>
      <p:sp>
        <p:nvSpPr>
          <p:cNvPr id="18" name="">
            <a:extLst xmlns:a="http://schemas.openxmlformats.org/drawingml/2006/main">
              <a:ext uri="{FF2B5EF4-FFF2-40B4-BE49-F238E27FC236}">
                <a16:creationId xmlns:a16="http://schemas.microsoft.com/office/drawing/2014/main" id="{017A91C6-B1AA-4998-93F7-CF8D8CA17C9C}"/>
              </a:ext>
            </a:extLst>
          </p:cNvPr>
          <p:cNvSpPr>
            <a:spLocks xmlns:a="http://schemas.openxmlformats.org/drawingml/2006/main" noGrp="1"/>
          </p:cNvSpPr>
          <p:nvPr/>
        </p:nvSpPr>
        <p:spPr>
          <a:xfrm xmlns:a="http://schemas.openxmlformats.org/drawingml/2006/main">
            <a:off x="609600" y="51816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a:solidFill>
                  <a:srgbClr val="6B263E"/>
                </a:solidFill>
                <a:latin typeface="Helvetica Neue"/>
                <a:ea typeface="Helvetica Neue"/>
                <a:cs typeface="Helvetica Neue"/>
              </a:defRPr>
            </a:pPr>
            <a:r>
              <a:rPr sz="2250">
                <a:solidFill>
                  <a:srgbClr val="6B263E"/>
                </a:solidFill>
                <a:latin typeface="Helvetica Neue"/>
                <a:ea typeface="Helvetica Neue"/>
                <a:cs typeface="Helvetica Neue"/>
              </a:rPr>
              <a:t>Backend workflows are implemented.</a:t>
            </a:r>
          </a:p>
          <a:p xmlns:a="http://schemas.openxmlformats.org/drawingml/2006/main">
            <a:pPr>
              <a:defRPr sz="2250">
                <a:solidFill>
                  <a:srgbClr val="6B263E"/>
                </a:solidFill>
                <a:latin typeface="Helvetica Neue"/>
                <a:ea typeface="Helvetica Neue"/>
                <a:cs typeface="Helvetica Neue"/>
              </a:defRPr>
            </a:pPr>
            <a:r>
              <a:rPr sz="2250">
                <a:solidFill>
                  <a:srgbClr val="6B263E"/>
                </a:solidFill>
                <a:latin typeface="Helvetica Neue"/>
                <a:ea typeface="Helvetica Neue"/>
                <a:cs typeface="Helvetica Neue"/>
              </a:rPr>
              <a:t>The current interface uses labeled sample data.</a:t>
            </a:r>
          </a:p>
        </p:txBody>
      </p:sp>
    </p:spTree>
    <p:extLst>
      <p:ext uri="{BB962C8B-B14F-4D97-AF65-F5344CB8AC3E}">
        <p14:creationId xmlns:p14="http://schemas.microsoft.com/office/powerpoint/2010/main" val="1930571443"/>
      </p:ext>
    </p:extLst>
  </p:cSld>
</p:sld>
</file>

<file path=ppt/slides/slide8.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091663C-8D01-44E1-BEC2-4519FFA89118}"/>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How our agents communicate</a:t>
            </a:r>
          </a:p>
        </p:txBody>
      </p:sp>
      <p:sp>
        <p:nvSpPr>
          <p:cNvPr id="2" name="">
            <a:extLst xmlns:a="http://schemas.openxmlformats.org/drawingml/2006/main">
              <a:ext uri="{FF2B5EF4-FFF2-40B4-BE49-F238E27FC236}">
                <a16:creationId xmlns:a16="http://schemas.microsoft.com/office/drawing/2014/main" id="{FAF858AC-C624-4302-AA32-22B121BA3540}"/>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2A5E0DF8-3D9F-453F-87EC-AF3166F24EDF}"/>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0EF8B70F-8E4F-4768-85D0-63C9F40BF573}"/>
              </a:ext>
            </a:extLst>
          </p:cNvPr>
          <p:cNvSpPr>
            <a:spLocks xmlns:a="http://schemas.openxmlformats.org/drawingml/2006/main" noGrp="1"/>
          </p:cNvSpPr>
          <p:nvPr/>
        </p:nvSpPr>
        <p:spPr>
          <a:xfrm xmlns:a="http://schemas.openxmlformats.org/drawingml/2006/main">
            <a:off x="609600" y="1409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a:solidFill>
                  <a:srgbClr val="61575C"/>
                </a:solidFill>
                <a:latin typeface="Helvetica Neue"/>
                <a:ea typeface="Helvetica Neue"/>
                <a:cs typeface="Helvetica Neue"/>
              </a:defRPr>
            </a:pPr>
            <a:r>
              <a:rPr sz="2175">
                <a:solidFill>
                  <a:srgbClr val="61575C"/>
                </a:solidFill>
                <a:latin typeface="Helvetica Neue"/>
                <a:ea typeface="Helvetica Neue"/>
                <a:cs typeface="Helvetica Neue"/>
              </a:rPr>
              <a:t>GoDaddy ANS discovers the configured planner</a:t>
            </a:r>
          </a:p>
        </p:txBody>
      </p:sp>
      <p:sp>
        <p:nvSpPr>
          <p:cNvPr id="5" name="">
            <a:extLst xmlns:a="http://schemas.openxmlformats.org/drawingml/2006/main">
              <a:ext uri="{FF2B5EF4-FFF2-40B4-BE49-F238E27FC236}">
                <a16:creationId xmlns:a16="http://schemas.microsoft.com/office/drawing/2014/main" id="{5DB88F53-42D2-42F2-B85C-D183D7AAA947}"/>
              </a:ext>
            </a:extLst>
          </p:cNvPr>
          <p:cNvSpPr>
            <a:spLocks xmlns:a="http://schemas.openxmlformats.org/drawingml/2006/main" noGrp="1"/>
          </p:cNvSpPr>
          <p:nvPr/>
        </p:nvSpPr>
        <p:spPr>
          <a:xfrm xmlns:a="http://schemas.openxmlformats.org/drawingml/2006/main">
            <a:off x="609600" y="2228850"/>
            <a:ext cx="3381375" cy="2981325"/>
          </a:xfrm>
          <a:prstGeom xmlns:a="http://schemas.openxmlformats.org/drawingml/2006/main" prst="rect">
            <a:avLst/>
          </a:prstGeom>
          <a:solidFill xmlns:a="http://schemas.openxmlformats.org/drawingml/2006/main">
            <a:srgbClr val="FAF7F2"/>
          </a:solidFill>
          <a:ln xmlns:a="http://schemas.openxmlformats.org/drawingml/2006/main" w="14288">
            <a:solidFill>
              <a:srgbClr val="D8CBCD"/>
            </a:solidFill>
          </a:ln>
        </p:spPr>
      </p:sp>
      <p:sp>
        <p:nvSpPr>
          <p:cNvPr id="6" name="">
            <a:extLst xmlns:a="http://schemas.openxmlformats.org/drawingml/2006/main">
              <a:ext uri="{FF2B5EF4-FFF2-40B4-BE49-F238E27FC236}">
                <a16:creationId xmlns:a16="http://schemas.microsoft.com/office/drawing/2014/main" id="{7FBD49EC-4C9F-4E31-A925-403230992DCA}"/>
              </a:ext>
            </a:extLst>
          </p:cNvPr>
          <p:cNvSpPr>
            <a:spLocks xmlns:a="http://schemas.openxmlformats.org/drawingml/2006/main" noGrp="1"/>
          </p:cNvSpPr>
          <p:nvPr/>
        </p:nvSpPr>
        <p:spPr>
          <a:xfrm xmlns:a="http://schemas.openxmlformats.org/drawingml/2006/main">
            <a:off x="8201025" y="2228850"/>
            <a:ext cx="3381375" cy="2981325"/>
          </a:xfrm>
          <a:prstGeom xmlns:a="http://schemas.openxmlformats.org/drawingml/2006/main" prst="rect">
            <a:avLst/>
          </a:prstGeom>
          <a:solidFill xmlns:a="http://schemas.openxmlformats.org/drawingml/2006/main">
            <a:srgbClr val="FAF7F2"/>
          </a:solidFill>
          <a:ln xmlns:a="http://schemas.openxmlformats.org/drawingml/2006/main" w="14288">
            <a:solidFill>
              <a:srgbClr val="D8CBCD"/>
            </a:solidFill>
          </a:ln>
        </p:spPr>
      </p:sp>
      <p:sp>
        <p:nvSpPr>
          <p:cNvPr id="7" name="">
            <a:extLst xmlns:a="http://schemas.openxmlformats.org/drawingml/2006/main">
              <a:ext uri="{FF2B5EF4-FFF2-40B4-BE49-F238E27FC236}">
                <a16:creationId xmlns:a16="http://schemas.microsoft.com/office/drawing/2014/main" id="{265D438C-9019-4067-9568-D3BC56DDB367}"/>
              </a:ext>
            </a:extLst>
          </p:cNvPr>
          <p:cNvSpPr>
            <a:spLocks xmlns:a="http://schemas.openxmlformats.org/drawingml/2006/main" noGrp="1"/>
          </p:cNvSpPr>
          <p:nvPr/>
        </p:nvSpPr>
        <p:spPr>
          <a:xfrm xmlns:a="http://schemas.openxmlformats.org/drawingml/2006/main">
            <a:off x="885825" y="2552700"/>
            <a:ext cx="2819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6B263E"/>
                </a:solidFill>
                <a:latin typeface="Helvetica Neue"/>
                <a:ea typeface="Helvetica Neue"/>
                <a:cs typeface="Helvetica Neue"/>
              </a:defRPr>
            </a:pPr>
            <a:r>
              <a:rPr sz="2925" b="1">
                <a:solidFill>
                  <a:srgbClr val="6B263E"/>
                </a:solidFill>
                <a:latin typeface="Helvetica Neue"/>
                <a:ea typeface="Helvetica Neue"/>
                <a:cs typeface="Helvetica Neue"/>
              </a:rPr>
              <a:t>Coach</a:t>
            </a:r>
          </a:p>
        </p:txBody>
      </p:sp>
      <p:sp>
        <p:nvSpPr>
          <p:cNvPr id="8" name="">
            <a:extLst xmlns:a="http://schemas.openxmlformats.org/drawingml/2006/main">
              <a:ext uri="{FF2B5EF4-FFF2-40B4-BE49-F238E27FC236}">
                <a16:creationId xmlns:a16="http://schemas.microsoft.com/office/drawing/2014/main" id="{AEBCFCFB-2289-43DD-8F38-63BF6F0FEFBE}"/>
              </a:ext>
            </a:extLst>
          </p:cNvPr>
          <p:cNvSpPr>
            <a:spLocks xmlns:a="http://schemas.openxmlformats.org/drawingml/2006/main" noGrp="1"/>
          </p:cNvSpPr>
          <p:nvPr/>
        </p:nvSpPr>
        <p:spPr>
          <a:xfrm xmlns:a="http://schemas.openxmlformats.org/drawingml/2006/main">
            <a:off x="885825" y="3276600"/>
            <a:ext cx="28098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VT ARC parses intent</a:t>
            </a:r>
          </a:p>
          <a:p xmlns:a="http://schemas.openxmlformats.org/drawingml/2006/main">
            <a:r>
              <a:t/>
            </a:r>
          </a:p>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Asks for missing details</a:t>
            </a:r>
          </a:p>
          <a:p xmlns:a="http://schemas.openxmlformats.org/drawingml/2006/main">
            <a:r>
              <a:t/>
            </a:r>
          </a:p>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Explains the result</a:t>
            </a:r>
          </a:p>
        </p:txBody>
      </p:sp>
      <p:sp>
        <p:nvSpPr>
          <p:cNvPr id="9" name="">
            <a:extLst xmlns:a="http://schemas.openxmlformats.org/drawingml/2006/main">
              <a:ext uri="{FF2B5EF4-FFF2-40B4-BE49-F238E27FC236}">
                <a16:creationId xmlns:a16="http://schemas.microsoft.com/office/drawing/2014/main" id="{920B50A4-DFEC-4DC6-90F8-1005AB072FC8}"/>
              </a:ext>
            </a:extLst>
          </p:cNvPr>
          <p:cNvSpPr>
            <a:spLocks xmlns:a="http://schemas.openxmlformats.org/drawingml/2006/main" noGrp="1"/>
          </p:cNvSpPr>
          <p:nvPr/>
        </p:nvSpPr>
        <p:spPr>
          <a:xfrm xmlns:a="http://schemas.openxmlformats.org/drawingml/2006/main">
            <a:off x="8477250" y="2552700"/>
            <a:ext cx="2819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6B263E"/>
                </a:solidFill>
                <a:latin typeface="Helvetica Neue"/>
                <a:ea typeface="Helvetica Neue"/>
                <a:cs typeface="Helvetica Neue"/>
              </a:defRPr>
            </a:pPr>
            <a:r>
              <a:rPr sz="2925" b="1">
                <a:solidFill>
                  <a:srgbClr val="6B263E"/>
                </a:solidFill>
                <a:latin typeface="Helvetica Neue"/>
                <a:ea typeface="Helvetica Neue"/>
                <a:cs typeface="Helvetica Neue"/>
              </a:rPr>
              <a:t>Planner</a:t>
            </a:r>
          </a:p>
        </p:txBody>
      </p:sp>
      <p:sp>
        <p:nvSpPr>
          <p:cNvPr id="10" name="">
            <a:extLst xmlns:a="http://schemas.openxmlformats.org/drawingml/2006/main">
              <a:ext uri="{FF2B5EF4-FFF2-40B4-BE49-F238E27FC236}">
                <a16:creationId xmlns:a16="http://schemas.microsoft.com/office/drawing/2014/main" id="{7D98CC7A-B9D6-420D-B608-2FF78E1C285C}"/>
              </a:ext>
            </a:extLst>
          </p:cNvPr>
          <p:cNvSpPr>
            <a:spLocks xmlns:a="http://schemas.openxmlformats.org/drawingml/2006/main" noGrp="1"/>
          </p:cNvSpPr>
          <p:nvPr/>
        </p:nvSpPr>
        <p:spPr>
          <a:xfrm xmlns:a="http://schemas.openxmlformats.org/drawingml/2006/main">
            <a:off x="8477250" y="3276600"/>
            <a:ext cx="28289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Calculates cash flow</a:t>
            </a:r>
          </a:p>
          <a:p xmlns:a="http://schemas.openxmlformats.org/drawingml/2006/main">
            <a:r>
              <a:t/>
            </a:r>
          </a:p>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Checks savings impact</a:t>
            </a:r>
          </a:p>
          <a:p xmlns:a="http://schemas.openxmlformats.org/drawingml/2006/main">
            <a:r>
              <a:t/>
            </a:r>
          </a:p>
          <a:p xmlns:a="http://schemas.openxmlformats.org/drawingml/2006/main">
            <a:pPr>
              <a:defRPr sz="1875">
                <a:solidFill>
                  <a:srgbClr val="282226"/>
                </a:solidFill>
                <a:latin typeface="Helvetica Neue"/>
                <a:ea typeface="Helvetica Neue"/>
                <a:cs typeface="Helvetica Neue"/>
              </a:defRPr>
            </a:pPr>
            <a:r>
              <a:rPr sz="1875">
                <a:solidFill>
                  <a:srgbClr val="282226"/>
                </a:solidFill>
                <a:latin typeface="Helvetica Neue"/>
                <a:ea typeface="Helvetica Neue"/>
                <a:cs typeface="Helvetica Neue"/>
              </a:rPr>
              <a:t>Returns a comparison</a:t>
            </a:r>
          </a:p>
        </p:txBody>
      </p:sp>
      <p:sp>
        <p:nvSpPr>
          <p:cNvPr id="11" name="">
            <a:extLst xmlns:a="http://schemas.openxmlformats.org/drawingml/2006/main">
              <a:ext uri="{FF2B5EF4-FFF2-40B4-BE49-F238E27FC236}">
                <a16:creationId xmlns:a16="http://schemas.microsoft.com/office/drawing/2014/main" id="{9457BFF6-2830-407F-B000-08E1D998DF75}"/>
              </a:ext>
            </a:extLst>
          </p:cNvPr>
          <p:cNvSpPr>
            <a:spLocks xmlns:a="http://schemas.openxmlformats.org/drawingml/2006/main" noGrp="1"/>
          </p:cNvSpPr>
          <p:nvPr/>
        </p:nvSpPr>
        <p:spPr>
          <a:xfrm xmlns:a="http://schemas.openxmlformats.org/drawingml/2006/main">
            <a:off x="4162425" y="2724150"/>
            <a:ext cx="3867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a:solidFill>
                  <a:srgbClr val="6B263E"/>
                </a:solidFill>
                <a:latin typeface="Helvetica Neue"/>
                <a:ea typeface="Helvetica Neue"/>
                <a:cs typeface="Helvetica Neue"/>
              </a:defRPr>
            </a:pPr>
            <a:r>
              <a:rPr sz="2025">
                <a:solidFill>
                  <a:srgbClr val="6B263E"/>
                </a:solidFill>
                <a:latin typeface="Helvetica Neue"/>
                <a:ea typeface="Helvetica Neue"/>
                <a:cs typeface="Helvetica Neue"/>
              </a:rPr>
              <a:t>Signed request</a:t>
            </a:r>
          </a:p>
        </p:txBody>
      </p:sp>
      <p:sp>
        <p:nvSpPr>
          <p:cNvPr id="12" name="">
            <a:extLst xmlns:a="http://schemas.openxmlformats.org/drawingml/2006/main">
              <a:ext uri="{FF2B5EF4-FFF2-40B4-BE49-F238E27FC236}">
                <a16:creationId xmlns:a16="http://schemas.microsoft.com/office/drawing/2014/main" id="{41A056F8-0AC4-46B4-9F48-F866FD7B1936}"/>
              </a:ext>
            </a:extLst>
          </p:cNvPr>
          <p:cNvSpPr>
            <a:spLocks xmlns:a="http://schemas.openxmlformats.org/drawingml/2006/main" noGrp="1"/>
          </p:cNvSpPr>
          <p:nvPr/>
        </p:nvSpPr>
        <p:spPr>
          <a:xfrm xmlns:a="http://schemas.openxmlformats.org/drawingml/2006/main">
            <a:off x="4143375" y="3219450"/>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DA4F8AD-8E94-4CE0-B699-85A2355C7010}"/>
              </a:ext>
            </a:extLst>
          </p:cNvPr>
          <p:cNvSpPr>
            <a:spLocks xmlns:a="http://schemas.openxmlformats.org/drawingml/2006/main" noGrp="1"/>
          </p:cNvSpPr>
          <p:nvPr/>
        </p:nvSpPr>
        <p:spPr>
          <a:xfrm xmlns:a="http://schemas.openxmlformats.org/drawingml/2006/main">
            <a:off x="8048625" y="32194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4" name=""/>
          <p:cNvCxnSpPr>
            <a:stCxn xmlns:a="http://schemas.openxmlformats.org/drawingml/2006/main" id="12" idx="3"/>
            <a:endCxn xmlns:a="http://schemas.openxmlformats.org/drawingml/2006/main" id="13" idx="1"/>
          </p:cNvCxnSpPr>
          <p:nvPr/>
        </p:nvCxnSpPr>
        <p:spPr>
          <a:xfrm xmlns:a="http://schemas.openxmlformats.org/drawingml/2006/main">
            <a:off x="4152900" y="3224213"/>
            <a:ext cx="3895725" cy="0"/>
          </a:xfrm>
          <a:prstGeom xmlns:a="http://schemas.openxmlformats.org/drawingml/2006/main" prst="straightConnector1">
            <a:avLst/>
          </a:prstGeom>
          <a:ln xmlns:a="http://schemas.openxmlformats.org/drawingml/2006/main" w="19050">
            <a:solidFill>
              <a:srgbClr val="6B263E"/>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481C95C2-EAE9-4A59-8959-B7080E854ADF}"/>
              </a:ext>
            </a:extLst>
          </p:cNvPr>
          <p:cNvSpPr>
            <a:spLocks xmlns:a="http://schemas.openxmlformats.org/drawingml/2006/main" noGrp="1"/>
          </p:cNvSpPr>
          <p:nvPr/>
        </p:nvSpPr>
        <p:spPr>
          <a:xfrm xmlns:a="http://schemas.openxmlformats.org/drawingml/2006/main">
            <a:off x="4162425" y="3943350"/>
            <a:ext cx="3867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a:solidFill>
                  <a:srgbClr val="6B263E"/>
                </a:solidFill>
                <a:latin typeface="Helvetica Neue"/>
                <a:ea typeface="Helvetica Neue"/>
                <a:cs typeface="Helvetica Neue"/>
              </a:defRPr>
            </a:pPr>
            <a:r>
              <a:rPr sz="2025">
                <a:solidFill>
                  <a:srgbClr val="6B263E"/>
                </a:solidFill>
                <a:latin typeface="Helvetica Neue"/>
                <a:ea typeface="Helvetica Neue"/>
                <a:cs typeface="Helvetica Neue"/>
              </a:rPr>
              <a:t>Before / after result</a:t>
            </a:r>
          </a:p>
        </p:txBody>
      </p:sp>
      <p:sp>
        <p:nvSpPr>
          <p:cNvPr id="16" name="">
            <a:extLst xmlns:a="http://schemas.openxmlformats.org/drawingml/2006/main">
              <a:ext uri="{FF2B5EF4-FFF2-40B4-BE49-F238E27FC236}">
                <a16:creationId xmlns:a16="http://schemas.microsoft.com/office/drawing/2014/main" id="{168EE477-1456-442F-BFDE-2B045D60A838}"/>
              </a:ext>
            </a:extLst>
          </p:cNvPr>
          <p:cNvSpPr>
            <a:spLocks xmlns:a="http://schemas.openxmlformats.org/drawingml/2006/main" noGrp="1"/>
          </p:cNvSpPr>
          <p:nvPr/>
        </p:nvSpPr>
        <p:spPr>
          <a:xfrm xmlns:a="http://schemas.openxmlformats.org/drawingml/2006/main">
            <a:off x="8048625" y="4448175"/>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3A42E27-E739-45B6-8B30-71CE54E956DF}"/>
              </a:ext>
            </a:extLst>
          </p:cNvPr>
          <p:cNvSpPr>
            <a:spLocks xmlns:a="http://schemas.openxmlformats.org/drawingml/2006/main" noGrp="1"/>
          </p:cNvSpPr>
          <p:nvPr/>
        </p:nvSpPr>
        <p:spPr>
          <a:xfrm xmlns:a="http://schemas.openxmlformats.org/drawingml/2006/main">
            <a:off x="4143375" y="44481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 name=""/>
          <p:cNvCxnSpPr>
            <a:stCxn xmlns:a="http://schemas.openxmlformats.org/drawingml/2006/main" id="16" idx="3"/>
            <a:endCxn xmlns:a="http://schemas.openxmlformats.org/drawingml/2006/main" id="17" idx="1"/>
          </p:cNvCxnSpPr>
          <p:nvPr/>
        </p:nvCxnSpPr>
        <p:spPr>
          <a:xfrm xmlns:a="http://schemas.openxmlformats.org/drawingml/2006/main" flipH="1">
            <a:off x="4143375" y="4452938"/>
            <a:ext cx="3914775" cy="0"/>
          </a:xfrm>
          <a:prstGeom xmlns:a="http://schemas.openxmlformats.org/drawingml/2006/main" prst="straightConnector1">
            <a:avLst/>
          </a:prstGeom>
          <a:ln xmlns:a="http://schemas.openxmlformats.org/drawingml/2006/main" w="19050">
            <a:solidFill>
              <a:srgbClr val="6B263E"/>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52769449-9EBA-44C1-962B-BDECBE8A8CD2}"/>
              </a:ext>
            </a:extLst>
          </p:cNvPr>
          <p:cNvSpPr>
            <a:spLocks xmlns:a="http://schemas.openxmlformats.org/drawingml/2006/main" noGrp="1"/>
          </p:cNvSpPr>
          <p:nvPr/>
        </p:nvSpPr>
        <p:spPr>
          <a:xfrm xmlns:a="http://schemas.openxmlformats.org/drawingml/2006/main">
            <a:off x="609600" y="54864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a:solidFill>
                  <a:srgbClr val="6B263E"/>
                </a:solidFill>
                <a:latin typeface="Helvetica Neue"/>
                <a:ea typeface="Helvetica Neue"/>
                <a:cs typeface="Helvetica Neue"/>
              </a:defRPr>
            </a:pPr>
            <a:r>
              <a:rPr sz="2175">
                <a:solidFill>
                  <a:srgbClr val="6B263E"/>
                </a:solidFill>
                <a:latin typeface="Helvetica Neue"/>
                <a:ea typeface="Helvetica Neue"/>
                <a:cs typeface="Helvetica Neue"/>
              </a:rPr>
              <a:t>The student previews a trade-off before saving a change.</a:t>
            </a:r>
          </a:p>
        </p:txBody>
      </p:sp>
      <p:sp>
        <p:nvSpPr>
          <p:cNvPr id="20" name="">
            <a:extLst xmlns:a="http://schemas.openxmlformats.org/drawingml/2006/main">
              <a:ext uri="{FF2B5EF4-FFF2-40B4-BE49-F238E27FC236}">
                <a16:creationId xmlns:a16="http://schemas.microsoft.com/office/drawing/2014/main" id="{60C5BE0E-DBF5-4187-9E4C-191FE102B3B0}"/>
              </a:ext>
            </a:extLst>
          </p:cNvPr>
          <p:cNvSpPr>
            <a:spLocks xmlns:a="http://schemas.openxmlformats.org/drawingml/2006/main" noGrp="1"/>
          </p:cNvSpPr>
          <p:nvPr/>
        </p:nvSpPr>
        <p:spPr>
          <a:xfrm xmlns:a="http://schemas.openxmlformats.org/drawingml/2006/main">
            <a:off x="609600" y="60102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a:solidFill>
                  <a:srgbClr val="61575C"/>
                </a:solidFill>
                <a:latin typeface="Helvetica Neue"/>
                <a:ea typeface="Helvetica Neue"/>
                <a:cs typeface="Helvetica Neue"/>
              </a:defRPr>
            </a:pPr>
            <a:r>
              <a:rPr sz="1575">
                <a:solidFill>
                  <a:srgbClr val="61575C"/>
                </a:solidFill>
                <a:latin typeface="Helvetica Neue"/>
                <a:ea typeface="Helvetica Neue"/>
                <a:cs typeface="Helvetica Neue"/>
              </a:rPr>
              <a:t>Implemented workflow. Live ANS execution still needs verification.</a:t>
            </a:r>
          </a:p>
        </p:txBody>
      </p:sp>
    </p:spTree>
    <p:extLst>
      <p:ext uri="{BB962C8B-B14F-4D97-AF65-F5344CB8AC3E}">
        <p14:creationId xmlns:p14="http://schemas.microsoft.com/office/powerpoint/2010/main" val="197699289"/>
      </p:ext>
    </p:extLst>
  </p:cSld>
</p:sld>
</file>

<file path=ppt/slides/slide9.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51FF38-0CD7-4EA4-8839-568DA4E82127}"/>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6B263E"/>
                </a:solidFill>
                <a:latin typeface="Helvetica Neue"/>
                <a:ea typeface="Helvetica Neue"/>
                <a:cs typeface="Helvetica Neue"/>
              </a:defRPr>
            </a:pPr>
            <a:r>
              <a:rPr sz="3450" b="1">
                <a:solidFill>
                  <a:srgbClr val="6B263E"/>
                </a:solidFill>
                <a:latin typeface="Helvetica Neue"/>
                <a:ea typeface="Helvetica Neue"/>
                <a:cs typeface="Helvetica Neue"/>
              </a:rPr>
              <a:t>Challenge alignment</a:t>
            </a:r>
          </a:p>
        </p:txBody>
      </p:sp>
      <p:sp>
        <p:nvSpPr>
          <p:cNvPr id="2" name="">
            <a:extLst xmlns:a="http://schemas.openxmlformats.org/drawingml/2006/main">
              <a:ext uri="{FF2B5EF4-FFF2-40B4-BE49-F238E27FC236}">
                <a16:creationId xmlns:a16="http://schemas.microsoft.com/office/drawing/2014/main" id="{20A961BA-E971-4B2C-B880-947AEEC67A89}"/>
              </a:ext>
            </a:extLst>
          </p:cNvPr>
          <p:cNvSpPr>
            <a:spLocks xmlns:a="http://schemas.openxmlformats.org/drawingml/2006/main" noGrp="1"/>
          </p:cNvSpPr>
          <p:nvPr/>
        </p:nvSpPr>
        <p:spPr>
          <a:xfrm xmlns:a="http://schemas.openxmlformats.org/drawingml/2006/main">
            <a:off x="609600" y="64008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Hokie Wallet</a:t>
            </a:r>
          </a:p>
        </p:txBody>
      </p:sp>
      <p:sp>
        <p:nvSpPr>
          <p:cNvPr id="3" name="">
            <a:extLst xmlns:a="http://schemas.openxmlformats.org/drawingml/2006/main">
              <a:ext uri="{FF2B5EF4-FFF2-40B4-BE49-F238E27FC236}">
                <a16:creationId xmlns:a16="http://schemas.microsoft.com/office/drawing/2014/main" id="{32AF7F98-B048-48AB-A125-5F26DFEC9AE7}"/>
              </a:ext>
            </a:extLst>
          </p:cNvPr>
          <p:cNvSpPr>
            <a:spLocks xmlns:a="http://schemas.openxmlformats.org/drawingml/2006/main" noGrp="1"/>
          </p:cNvSpPr>
          <p:nvPr/>
        </p:nvSpPr>
        <p:spPr>
          <a:xfrm xmlns:a="http://schemas.openxmlformats.org/drawingml/2006/main">
            <a:off x="11144250" y="640080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a:solidFill>
                  <a:srgbClr val="61575C"/>
                </a:solidFill>
                <a:latin typeface="Helvetica Neue"/>
                <a:ea typeface="Helvetica Neue"/>
                <a:cs typeface="Helvetica Neue"/>
              </a:defRPr>
            </a:pPr>
            <a:r>
              <a:rPr sz="1200">
                <a:solidFill>
                  <a:srgbClr val="61575C"/>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490DF83A-B70E-4A76-80F8-5AED13B84354}"/>
              </a:ext>
            </a:extLst>
          </p:cNvPr>
          <p:cNvSpPr>
            <a:spLocks xmlns:a="http://schemas.openxmlformats.org/drawingml/2006/main" noGrp="1"/>
          </p:cNvSpPr>
          <p:nvPr/>
        </p:nvSpPr>
        <p:spPr>
          <a:xfrm xmlns:a="http://schemas.openxmlformats.org/drawingml/2006/main">
            <a:off x="609600" y="1809750"/>
            <a:ext cx="40671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6B263E"/>
                </a:solidFill>
                <a:latin typeface="Helvetica Neue"/>
                <a:ea typeface="Helvetica Neue"/>
                <a:cs typeface="Helvetica Neue"/>
              </a:defRPr>
            </a:pPr>
            <a:r>
              <a:rPr sz="2100" b="1">
                <a:solidFill>
                  <a:srgbClr val="6B263E"/>
                </a:solidFill>
                <a:latin typeface="Helvetica Neue"/>
                <a:ea typeface="Helvetica Neue"/>
                <a:cs typeface="Helvetica Neue"/>
              </a:rPr>
              <a:t>Capital One / Nessie</a:t>
            </a:r>
          </a:p>
        </p:txBody>
      </p:sp>
      <p:sp>
        <p:nvSpPr>
          <p:cNvPr id="5" name="">
            <a:extLst xmlns:a="http://schemas.openxmlformats.org/drawingml/2006/main">
              <a:ext uri="{FF2B5EF4-FFF2-40B4-BE49-F238E27FC236}">
                <a16:creationId xmlns:a16="http://schemas.microsoft.com/office/drawing/2014/main" id="{E62597D3-311A-47D2-BFA6-18A0F6D3E228}"/>
              </a:ext>
            </a:extLst>
          </p:cNvPr>
          <p:cNvSpPr>
            <a:spLocks xmlns:a="http://schemas.openxmlformats.org/drawingml/2006/main" noGrp="1"/>
          </p:cNvSpPr>
          <p:nvPr/>
        </p:nvSpPr>
        <p:spPr>
          <a:xfrm xmlns:a="http://schemas.openxmlformats.org/drawingml/2006/main">
            <a:off x="4867275" y="180975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a:solidFill>
                  <a:srgbClr val="282226"/>
                </a:solidFill>
                <a:latin typeface="Helvetica Neue"/>
                <a:ea typeface="Helvetica Neue"/>
                <a:cs typeface="Helvetica Neue"/>
              </a:defRPr>
            </a:pPr>
            <a:r>
              <a:rPr sz="2175">
                <a:solidFill>
                  <a:srgbClr val="282226"/>
                </a:solidFill>
                <a:latin typeface="Helvetica Neue"/>
                <a:ea typeface="Helvetica Neue"/>
                <a:cs typeface="Helvetica Neue"/>
              </a:rPr>
              <a:t>Banking context for student planning</a:t>
            </a:r>
          </a:p>
        </p:txBody>
      </p:sp>
      <p:sp>
        <p:nvSpPr>
          <p:cNvPr id="6" name="">
            <a:extLst xmlns:a="http://schemas.openxmlformats.org/drawingml/2006/main">
              <a:ext uri="{FF2B5EF4-FFF2-40B4-BE49-F238E27FC236}">
                <a16:creationId xmlns:a16="http://schemas.microsoft.com/office/drawing/2014/main" id="{EBC5493F-CB72-4398-AD1D-A9BC4CEBBD3F}"/>
              </a:ext>
            </a:extLst>
          </p:cNvPr>
          <p:cNvSpPr>
            <a:spLocks xmlns:a="http://schemas.openxmlformats.org/drawingml/2006/main" noGrp="1"/>
          </p:cNvSpPr>
          <p:nvPr/>
        </p:nvSpPr>
        <p:spPr>
          <a:xfrm xmlns:a="http://schemas.openxmlformats.org/drawingml/2006/main">
            <a:off x="609600" y="2809875"/>
            <a:ext cx="40671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6B263E"/>
                </a:solidFill>
                <a:latin typeface="Helvetica Neue"/>
                <a:ea typeface="Helvetica Neue"/>
                <a:cs typeface="Helvetica Neue"/>
              </a:defRPr>
            </a:pPr>
            <a:r>
              <a:rPr sz="2100" b="1">
                <a:solidFill>
                  <a:srgbClr val="6B263E"/>
                </a:solidFill>
                <a:latin typeface="Helvetica Neue"/>
                <a:ea typeface="Helvetica Neue"/>
                <a:cs typeface="Helvetica Neue"/>
              </a:rPr>
              <a:t>GoDaddy / ANS</a:t>
            </a:r>
          </a:p>
        </p:txBody>
      </p:sp>
      <p:sp>
        <p:nvSpPr>
          <p:cNvPr id="7" name="">
            <a:extLst xmlns:a="http://schemas.openxmlformats.org/drawingml/2006/main">
              <a:ext uri="{FF2B5EF4-FFF2-40B4-BE49-F238E27FC236}">
                <a16:creationId xmlns:a16="http://schemas.microsoft.com/office/drawing/2014/main" id="{D4402FFD-6955-47FE-8468-BD10343F6A0D}"/>
              </a:ext>
            </a:extLst>
          </p:cNvPr>
          <p:cNvSpPr>
            <a:spLocks xmlns:a="http://schemas.openxmlformats.org/drawingml/2006/main" noGrp="1"/>
          </p:cNvSpPr>
          <p:nvPr/>
        </p:nvSpPr>
        <p:spPr>
          <a:xfrm xmlns:a="http://schemas.openxmlformats.org/drawingml/2006/main">
            <a:off x="4867275" y="2809875"/>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a:solidFill>
                  <a:srgbClr val="282226"/>
                </a:solidFill>
                <a:latin typeface="Helvetica Neue"/>
                <a:ea typeface="Helvetica Neue"/>
                <a:cs typeface="Helvetica Neue"/>
              </a:defRPr>
            </a:pPr>
            <a:r>
              <a:rPr sz="2175">
                <a:solidFill>
                  <a:srgbClr val="282226"/>
                </a:solidFill>
                <a:latin typeface="Helvetica Neue"/>
                <a:ea typeface="Helvetica Neue"/>
                <a:cs typeface="Helvetica Neue"/>
              </a:rPr>
              <a:t>Discovery and verified agent requests</a:t>
            </a:r>
          </a:p>
        </p:txBody>
      </p:sp>
      <p:sp>
        <p:nvSpPr>
          <p:cNvPr id="8" name="">
            <a:extLst xmlns:a="http://schemas.openxmlformats.org/drawingml/2006/main">
              <a:ext uri="{FF2B5EF4-FFF2-40B4-BE49-F238E27FC236}">
                <a16:creationId xmlns:a16="http://schemas.microsoft.com/office/drawing/2014/main" id="{6AEEAA13-5082-407B-B173-E5C0C9635C4F}"/>
              </a:ext>
            </a:extLst>
          </p:cNvPr>
          <p:cNvSpPr>
            <a:spLocks xmlns:a="http://schemas.openxmlformats.org/drawingml/2006/main" noGrp="1"/>
          </p:cNvSpPr>
          <p:nvPr/>
        </p:nvSpPr>
        <p:spPr>
          <a:xfrm xmlns:a="http://schemas.openxmlformats.org/drawingml/2006/main">
            <a:off x="609600" y="3810000"/>
            <a:ext cx="40671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6B263E"/>
                </a:solidFill>
                <a:latin typeface="Helvetica Neue"/>
                <a:ea typeface="Helvetica Neue"/>
                <a:cs typeface="Helvetica Neue"/>
              </a:defRPr>
            </a:pPr>
            <a:r>
              <a:rPr sz="2100" b="1">
                <a:solidFill>
                  <a:srgbClr val="6B263E"/>
                </a:solidFill>
                <a:latin typeface="Helvetica Neue"/>
                <a:ea typeface="Helvetica Neue"/>
                <a:cs typeface="Helvetica Neue"/>
              </a:rPr>
              <a:t>Deloitte × Databricks</a:t>
            </a:r>
          </a:p>
        </p:txBody>
      </p:sp>
      <p:sp>
        <p:nvSpPr>
          <p:cNvPr id="9" name="">
            <a:extLst xmlns:a="http://schemas.openxmlformats.org/drawingml/2006/main">
              <a:ext uri="{FF2B5EF4-FFF2-40B4-BE49-F238E27FC236}">
                <a16:creationId xmlns:a16="http://schemas.microsoft.com/office/drawing/2014/main" id="{1E5E8423-40DA-4358-B591-09D31028764F}"/>
              </a:ext>
            </a:extLst>
          </p:cNvPr>
          <p:cNvSpPr>
            <a:spLocks xmlns:a="http://schemas.openxmlformats.org/drawingml/2006/main" noGrp="1"/>
          </p:cNvSpPr>
          <p:nvPr/>
        </p:nvSpPr>
        <p:spPr>
          <a:xfrm xmlns:a="http://schemas.openxmlformats.org/drawingml/2006/main">
            <a:off x="4867275" y="3810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a:solidFill>
                  <a:srgbClr val="282226"/>
                </a:solidFill>
                <a:latin typeface="Helvetica Neue"/>
                <a:ea typeface="Helvetica Neue"/>
                <a:cs typeface="Helvetica Neue"/>
              </a:defRPr>
            </a:pPr>
            <a:r>
              <a:rPr sz="2175">
                <a:solidFill>
                  <a:srgbClr val="282226"/>
                </a:solidFill>
                <a:latin typeface="Helvetica Neue"/>
                <a:ea typeface="Helvetica Neue"/>
                <a:cs typeface="Helvetica Neue"/>
              </a:rPr>
              <a:t>AI guidance for campus dining decisions</a:t>
            </a:r>
          </a:p>
        </p:txBody>
      </p:sp>
      <p:sp>
        <p:nvSpPr>
          <p:cNvPr id="10" name="">
            <a:extLst xmlns:a="http://schemas.openxmlformats.org/drawingml/2006/main">
              <a:ext uri="{FF2B5EF4-FFF2-40B4-BE49-F238E27FC236}">
                <a16:creationId xmlns:a16="http://schemas.microsoft.com/office/drawing/2014/main" id="{9FAB2A1D-FA88-4E49-AFB3-CDA88DAF42E8}"/>
              </a:ext>
            </a:extLst>
          </p:cNvPr>
          <p:cNvSpPr>
            <a:spLocks xmlns:a="http://schemas.openxmlformats.org/drawingml/2006/main" noGrp="1"/>
          </p:cNvSpPr>
          <p:nvPr/>
        </p:nvSpPr>
        <p:spPr>
          <a:xfrm xmlns:a="http://schemas.openxmlformats.org/drawingml/2006/main">
            <a:off x="609600" y="505777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1">
                <a:solidFill>
                  <a:srgbClr val="6B263E"/>
                </a:solidFill>
                <a:latin typeface="Helvetica Neue"/>
                <a:ea typeface="Helvetica Neue"/>
                <a:cs typeface="Helvetica Neue"/>
              </a:defRPr>
            </a:pPr>
            <a:r>
              <a:rPr sz="3150" b="1">
                <a:solidFill>
                  <a:srgbClr val="6B263E"/>
                </a:solidFill>
                <a:latin typeface="Helvetica Neue"/>
                <a:ea typeface="Helvetica Neue"/>
                <a:cs typeface="Helvetica Neue"/>
              </a:rPr>
              <a:t>Help Hokies plan today’s spending</a:t>
            </a:r>
          </a:p>
          <a:p xmlns:a="http://schemas.openxmlformats.org/drawingml/2006/main">
            <a:pPr>
              <a:defRPr sz="3150" b="1">
                <a:solidFill>
                  <a:srgbClr val="6B263E"/>
                </a:solidFill>
                <a:latin typeface="Helvetica Neue"/>
                <a:ea typeface="Helvetica Neue"/>
                <a:cs typeface="Helvetica Neue"/>
              </a:defRPr>
            </a:pPr>
            <a:r>
              <a:rPr sz="3150" b="1">
                <a:solidFill>
                  <a:srgbClr val="6B263E"/>
                </a:solidFill>
                <a:latin typeface="Helvetica Neue"/>
                <a:ea typeface="Helvetica Neue"/>
                <a:cs typeface="Helvetica Neue"/>
              </a:rPr>
              <a:t>with tomorrow in mind.</a:t>
            </a:r>
          </a:p>
        </p:txBody>
      </p:sp>
    </p:spTree>
    <p:extLst>
      <p:ext uri="{BB962C8B-B14F-4D97-AF65-F5344CB8AC3E}">
        <p14:creationId xmlns:p14="http://schemas.microsoft.com/office/powerpoint/2010/main" val="1833829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2026-09-20T04:13:09.8940000Z</dcterms:created>
  <dcterms:modified xsi:type="dcterms:W3CDTF">2026-09-20T04:13:09.8940000Z</dcterms:modified>
</coreProperties>
</file>